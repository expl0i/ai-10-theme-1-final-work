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686F7B"/>
                </a:solidFill>
                <a:latin typeface="Calibri"/>
              </a:defRPr>
            </a:pPr>
            <a:r>
              <a:rPr sz="900" b="0" i="0" u="none" strike="noStrike">
                <a:solidFill>
                  <a:srgbClr val="686F7B"/>
                </a:solidFill>
                <a:latin typeface="Calibri"/>
              </a:rPr>
              <a:t>схема: недообучение</a:t>
            </a:r>
          </a:p>
        </c:rich>
      </c:tx>
      <c:layout/>
      <c:overlay val="0"/>
    </c:title>
    <c:autoTitleDeleted val="0"/>
    <c:plotArea>
      <c:layout/>
      <c:lineChart>
        <c:varyColors val="0"/>
        <c:ser>
          <c:idx val="0"/>
          <c:order val="0"/>
          <c:tx>
            <c:strRef>
              <c:f>Sheet1!$B$1</c:f>
              <c:strCache>
                <c:ptCount val="1"/>
                <c:pt idx="0">
                  <c:v>обучающая</c:v>
                </c:pt>
              </c:strCache>
            </c:strRef>
          </c:tx>
          <c:spPr>
            <a:solidFill>
              <a:srgbClr val="0F1B2D"/>
            </a:solidFill>
            <a:ln w="2540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1B2D"/>
              </a:solidFill>
              <a:ln w="9525" cap="flat">
                <a:solidFill>
                  <a:srgbClr val="0F1B2D"/>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0.62</c:v>
                </c:pt>
                <c:pt idx="1">
                  <c:v>0.5602762114292793</c:v>
                </c:pt>
                <c:pt idx="2">
                  <c:v>0.5137632781224111</c:v>
                </c:pt>
                <c:pt idx="3">
                  <c:v>0.47753896924007394</c:v>
                </c:pt>
                <c:pt idx="4">
                  <c:v>0.4493274491162894</c:v>
                </c:pt>
                <c:pt idx="5">
                  <c:v>0.4273562951522513</c:v>
                </c:pt>
                <c:pt idx="6">
                  <c:v>0.410245143240076</c:v>
                </c:pt>
                <c:pt idx="7">
                  <c:v>0.39691896473162014</c:v>
                </c:pt>
                <c:pt idx="8">
                  <c:v>0.38654052647388537</c:v>
                </c:pt>
                <c:pt idx="9">
                  <c:v>0.3784577906317034</c:v>
                </c:pt>
                <c:pt idx="10">
                  <c:v>0.37216294962845264</c:v>
                </c:pt>
                <c:pt idx="11">
                  <c:v>0.36726052252581104</c:v>
                </c:pt>
                <c:pt idx="12">
                  <c:v>0.36344250845932324</c:v>
                </c:pt>
                <c:pt idx="13">
                  <c:v>0.36046903611456493</c:v>
                </c:pt>
                <c:pt idx="14">
                  <c:v>0.358153293524026</c:v>
                </c:pt>
                <c:pt idx="15">
                  <c:v>0.35634979138112244</c:v>
                </c:pt>
                <c:pt idx="16">
                  <c:v>0.3549452224999582</c:v>
                </c:pt>
                <c:pt idx="17">
                  <c:v>0.35385134315542977</c:v>
                </c:pt>
                <c:pt idx="18">
                  <c:v>0.3529994290653254</c:v>
                </c:pt>
                <c:pt idx="19">
                  <c:v>0.35233595770484255</c:v>
                </c:pt>
              </c:numCache>
            </c:numRef>
          </c:val>
          <c:smooth val="0"/>
        </c:ser>
        <c:ser>
          <c:idx val="1"/>
          <c:order val="1"/>
          <c:tx>
            <c:strRef>
              <c:f>Sheet1!$C$1</c:f>
              <c:strCache>
                <c:ptCount val="1"/>
                <c:pt idx="0">
                  <c:v>валидационная</c:v>
                </c:pt>
              </c:strCache>
            </c:strRef>
          </c:tx>
          <c:spPr>
            <a:solidFill>
              <a:srgbClr val="4C9BFF"/>
            </a:solidFill>
            <a:ln w="25400" cap="flat">
              <a:solidFill>
                <a:srgbClr val="4C9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9BFF"/>
              </a:solidFill>
              <a:ln w="9525" cap="flat">
                <a:solidFill>
                  <a:srgbClr val="4C9BFF"/>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0.64</c:v>
                </c:pt>
                <c:pt idx="1">
                  <c:v>0.5824882035985652</c:v>
                </c:pt>
                <c:pt idx="2">
                  <c:v>0.5376979715252848</c:v>
                </c:pt>
                <c:pt idx="3">
                  <c:v>0.5028153037126638</c:v>
                </c:pt>
                <c:pt idx="4">
                  <c:v>0.475648654704575</c:v>
                </c:pt>
                <c:pt idx="5">
                  <c:v>0.4544912471836494</c:v>
                </c:pt>
                <c:pt idx="6">
                  <c:v>0.43801384163859175</c:v>
                </c:pt>
                <c:pt idx="7">
                  <c:v>0.4251812252971157</c:v>
                </c:pt>
                <c:pt idx="8">
                  <c:v>0.4151871736415193</c:v>
                </c:pt>
                <c:pt idx="9">
                  <c:v>0.40740379838608476</c:v>
                </c:pt>
                <c:pt idx="10">
                  <c:v>0.4013420996422137</c:v>
                </c:pt>
                <c:pt idx="11">
                  <c:v>0.396621243913744</c:v>
                </c:pt>
                <c:pt idx="12">
                  <c:v>0.39294463777564465</c:v>
                </c:pt>
                <c:pt idx="13">
                  <c:v>0.3900812940362477</c:v>
                </c:pt>
                <c:pt idx="14">
                  <c:v>0.3878513196898028</c:v>
                </c:pt>
                <c:pt idx="15">
                  <c:v>0.38611461392256236</c:v>
                </c:pt>
                <c:pt idx="16">
                  <c:v>0.3847620661110709</c:v>
                </c:pt>
                <c:pt idx="17">
                  <c:v>0.3837087008163398</c:v>
                </c:pt>
                <c:pt idx="18">
                  <c:v>0.382888339099943</c:v>
                </c:pt>
                <c:pt idx="19">
                  <c:v>0.38224944075281136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686F7B"/>
                    </a:solidFill>
                    <a:latin typeface="Calibri"/>
                  </a:defRPr>
                </a:pPr>
                <a:r>
                  <a:rPr sz="800" b="0" i="0" u="none" strike="noStrike">
                    <a:solidFill>
                      <a:srgbClr val="686F7B"/>
                    </a:solidFill>
                    <a:latin typeface="Calibri"/>
                  </a:rPr>
                  <a:t>эпоха</a:t>
                </a:r>
              </a:p>
            </c:rich>
          </c:tx>
          <c:layout/>
          <c:overlay val="0"/>
        </c:title>
        <c:numFmt formatCode="General" sourceLinked="1"/>
        <c:majorTickMark val="out"/>
        <c:minorTickMark val="none"/>
        <c:tickLblPos val="low"/>
        <c:spPr>
          <a:ln w="12700" cap="flat">
            <a:solidFill>
              <a:srgbClr val="C9CDD2"/>
            </a:solidFill>
            <a:prstDash val="solid"/>
            <a:round/>
          </a:ln>
        </c:spPr>
        <c:txPr>
          <a:bodyPr/>
          <a:lstStyle/>
          <a:p>
            <a:pPr>
              <a:defRPr sz="800" b="0" i="0" u="none" strike="noStrike">
                <a:solidFill>
                  <a:srgbClr val="686F7B"/>
                </a:solidFill>
                <a:latin typeface="Calibri"/>
              </a:defRPr>
            </a:pPr>
            <a:endParaRPr lang="en-US"/>
          </a:p>
        </c:txPr>
        <c:crossAx val="2094734552"/>
        <c:crosses val="autoZero"/>
        <c:auto val="1"/>
        <c:lblAlgn val="ctr"/>
        <c:noMultiLvlLbl val="1"/>
        <c:tickLblSkip val="5"/>
      </c:catAx>
      <c:valAx>
        <c:axId val="2094734552"/>
        <c:scaling>
          <c:orientation val="minMax"/>
          <c:max val="0.7"/>
          <c:min val="0"/>
        </c:scaling>
        <c:delete val="0"/>
        <c:axPos val="l"/>
        <c:majorGridlines>
          <c:spPr>
            <a:ln w="6350" cap="flat">
              <a:solidFill>
                <a:srgbClr val="E6E8EB"/>
              </a:solidFill>
              <a:prstDash val="solid"/>
              <a:round/>
            </a:ln>
          </c:spPr>
        </c:majorGridlines>
        <c:title>
          <c:tx>
            <c:rich>
              <a:bodyPr/>
              <a:lstStyle/>
              <a:p>
                <a:pPr>
                  <a:defRPr sz="800" b="0" i="0" u="none" strike="noStrike">
                    <a:solidFill>
                      <a:srgbClr val="686F7B"/>
                    </a:solidFill>
                    <a:latin typeface="Calibri"/>
                  </a:defRPr>
                </a:pPr>
                <a:r>
                  <a:rPr sz="800" b="0" i="0" u="none" strike="noStrike">
                    <a:solidFill>
                      <a:srgbClr val="686F7B"/>
                    </a:solidFill>
                    <a:latin typeface="Calibri"/>
                  </a:rPr>
                  <a:t>ошибка</a:t>
                </a:r>
              </a:p>
            </c:rich>
          </c:tx>
          <c:layout/>
          <c:overlay val="0"/>
        </c:title>
        <c:numFmt formatCode="0.0" sourceLinked="0"/>
        <c:majorTickMark val="out"/>
        <c:minorTickMark val="none"/>
        <c:tickLblPos val="nextTo"/>
        <c:spPr>
          <a:ln w="12700" cap="flat">
            <a:noFill/>
            <a:prstDash val="solid"/>
            <a:round/>
          </a:ln>
        </c:spPr>
        <c:txPr>
          <a:bodyPr/>
          <a:lstStyle/>
          <a:p>
            <a:pPr>
              <a:defRPr sz="800" b="0" i="0" u="none" strike="noStrike">
                <a:solidFill>
                  <a:srgbClr val="686F7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686F7B"/>
                </a:solidFill>
                <a:latin typeface="Calibri"/>
              </a:defRPr>
            </a:pPr>
            <a:r>
              <a:rPr sz="900" b="0" i="0" u="none" strike="noStrike">
                <a:solidFill>
                  <a:srgbClr val="686F7B"/>
                </a:solidFill>
                <a:latin typeface="Calibri"/>
              </a:rPr>
              <a:t>схема: переобучение</a:t>
            </a:r>
          </a:p>
        </c:rich>
      </c:tx>
      <c:layout/>
      <c:overlay val="0"/>
    </c:title>
    <c:autoTitleDeleted val="0"/>
    <c:plotArea>
      <c:layout/>
      <c:lineChart>
        <c:varyColors val="0"/>
        <c:ser>
          <c:idx val="0"/>
          <c:order val="0"/>
          <c:tx>
            <c:strRef>
              <c:f>Sheet1!$B$1</c:f>
              <c:strCache>
                <c:ptCount val="1"/>
                <c:pt idx="0">
                  <c:v>обучающая</c:v>
                </c:pt>
              </c:strCache>
            </c:strRef>
          </c:tx>
          <c:spPr>
            <a:solidFill>
              <a:srgbClr val="0F1B2D"/>
            </a:solidFill>
            <a:ln w="2540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1B2D"/>
              </a:solidFill>
              <a:ln w="9525" cap="flat">
                <a:solidFill>
                  <a:srgbClr val="0F1B2D"/>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0.61</c:v>
                </c:pt>
                <c:pt idx="1">
                  <c:v>0.46088637584517156</c:v>
                </c:pt>
                <c:pt idx="2">
                  <c:v>0.34883087320465556</c:v>
                </c:pt>
                <c:pt idx="3">
                  <c:v>0.26462370740617</c:v>
                </c:pt>
                <c:pt idx="4">
                  <c:v>0.20134393439438228</c:v>
                </c:pt>
                <c:pt idx="5">
                  <c:v>0.15379062186506548</c:v>
                </c:pt>
                <c:pt idx="6">
                  <c:v>0.11805538728877144</c:v>
                </c:pt>
                <c:pt idx="7">
                  <c:v>0.09120116994196761</c:v>
                </c:pt>
                <c:pt idx="8">
                  <c:v>0.0710208353825361</c:v>
                </c:pt>
                <c:pt idx="9">
                  <c:v>0.055855772194460855</c:v>
                </c:pt>
                <c:pt idx="10">
                  <c:v>0.04445957156057041</c:v>
                </c:pt>
                <c:pt idx="11">
                  <c:v>0.03589558555687156</c:v>
                </c:pt>
                <c:pt idx="12">
                  <c:v>0.029459944536877315</c:v>
                </c:pt>
                <c:pt idx="13">
                  <c:v>0.024623706443967757</c:v>
                </c:pt>
                <c:pt idx="14">
                  <c:v>0.020989383333240505</c:v>
                </c:pt>
                <c:pt idx="15">
                  <c:v>0.018258272039830242</c:v>
                </c:pt>
                <c:pt idx="16">
                  <c:v>0.01620590391797095</c:v>
                </c:pt>
                <c:pt idx="17">
                  <c:v>0.014663595877362122</c:v>
                </c:pt>
                <c:pt idx="18">
                  <c:v>0.013504586405917148</c:v>
                </c:pt>
                <c:pt idx="19">
                  <c:v>0.012633617105667063</c:v>
                </c:pt>
              </c:numCache>
            </c:numRef>
          </c:val>
          <c:smooth val="0"/>
        </c:ser>
        <c:ser>
          <c:idx val="1"/>
          <c:order val="1"/>
          <c:tx>
            <c:strRef>
              <c:f>Sheet1!$C$1</c:f>
              <c:strCache>
                <c:ptCount val="1"/>
                <c:pt idx="0">
                  <c:v>валидационная</c:v>
                </c:pt>
              </c:strCache>
            </c:strRef>
          </c:tx>
          <c:spPr>
            <a:solidFill>
              <a:srgbClr val="4C9BFF"/>
            </a:solidFill>
            <a:ln w="25400" cap="flat">
              <a:solidFill>
                <a:srgbClr val="4C9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9BFF"/>
              </a:solidFill>
              <a:ln w="9525" cap="flat">
                <a:solidFill>
                  <a:srgbClr val="4C9BFF"/>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0.8200000000000001</c:v>
                </c:pt>
                <c:pt idx="1">
                  <c:v>0.6670409217066773</c:v>
                </c:pt>
                <c:pt idx="2">
                  <c:v>0.5546252356448107</c:v>
                </c:pt>
                <c:pt idx="3">
                  <c:v>0.473236164319709</c:v>
                </c:pt>
                <c:pt idx="4">
                  <c:v>0.41572206554086166</c:v>
                </c:pt>
                <c:pt idx="5">
                  <c:v>0.376708642593901</c:v>
                </c:pt>
                <c:pt idx="6">
                  <c:v>0.35215723353173045</c:v>
                </c:pt>
                <c:pt idx="7">
                  <c:v>0.33903287560669987</c:v>
                </c:pt>
                <c:pt idx="8">
                  <c:v>0.33505486322862066</c:v>
                </c:pt>
                <c:pt idx="9">
                  <c:v>0.3385092979342762</c:v>
                </c:pt>
                <c:pt idx="10">
                  <c:v>0.3481082239459228</c:v>
                </c:pt>
                <c:pt idx="11">
                  <c:v>0.3628837717421006</c:v>
                </c:pt>
                <c:pt idx="12">
                  <c:v>0.3821086093547732</c:v>
                </c:pt>
                <c:pt idx="13">
                  <c:v>0.40523616332543333</c:v>
                </c:pt>
                <c:pt idx="14">
                  <c:v>0.4318556961110152</c:v>
                </c:pt>
                <c:pt idx="15">
                  <c:v>0.4616585477744912</c:v>
                </c:pt>
                <c:pt idx="16">
                  <c:v>0.4944127673819033</c:v>
                </c:pt>
                <c:pt idx="17">
                  <c:v>0.5299440490732742</c:v>
                </c:pt>
                <c:pt idx="18">
                  <c:v>0.568121405952781</c:v>
                </c:pt>
                <c:pt idx="19">
                  <c:v>0.6088464043425226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686F7B"/>
                    </a:solidFill>
                    <a:latin typeface="Calibri"/>
                  </a:defRPr>
                </a:pPr>
                <a:r>
                  <a:rPr sz="800" b="0" i="0" u="none" strike="noStrike">
                    <a:solidFill>
                      <a:srgbClr val="686F7B"/>
                    </a:solidFill>
                    <a:latin typeface="Calibri"/>
                  </a:rPr>
                  <a:t>эпоха</a:t>
                </a:r>
              </a:p>
            </c:rich>
          </c:tx>
          <c:layout/>
          <c:overlay val="0"/>
        </c:title>
        <c:numFmt formatCode="General" sourceLinked="1"/>
        <c:majorTickMark val="out"/>
        <c:minorTickMark val="none"/>
        <c:tickLblPos val="low"/>
        <c:spPr>
          <a:ln w="12700" cap="flat">
            <a:solidFill>
              <a:srgbClr val="C9CDD2"/>
            </a:solidFill>
            <a:prstDash val="solid"/>
            <a:round/>
          </a:ln>
        </c:spPr>
        <c:txPr>
          <a:bodyPr/>
          <a:lstStyle/>
          <a:p>
            <a:pPr>
              <a:defRPr sz="800" b="0" i="0" u="none" strike="noStrike">
                <a:solidFill>
                  <a:srgbClr val="686F7B"/>
                </a:solidFill>
                <a:latin typeface="Calibri"/>
              </a:defRPr>
            </a:pPr>
            <a:endParaRPr lang="en-US"/>
          </a:p>
        </c:txPr>
        <c:crossAx val="2094734552"/>
        <c:crosses val="autoZero"/>
        <c:auto val="1"/>
        <c:lblAlgn val="ctr"/>
        <c:noMultiLvlLbl val="1"/>
        <c:tickLblSkip val="5"/>
      </c:catAx>
      <c:valAx>
        <c:axId val="2094734552"/>
        <c:scaling>
          <c:orientation val="minMax"/>
          <c:max val="0.7"/>
          <c:min val="0"/>
        </c:scaling>
        <c:delete val="0"/>
        <c:axPos val="l"/>
        <c:majorGridlines>
          <c:spPr>
            <a:ln w="6350" cap="flat">
              <a:solidFill>
                <a:srgbClr val="E6E8EB"/>
              </a:solidFill>
              <a:prstDash val="solid"/>
              <a:round/>
            </a:ln>
          </c:spPr>
        </c:majorGridlines>
        <c:title>
          <c:tx>
            <c:rich>
              <a:bodyPr/>
              <a:lstStyle/>
              <a:p>
                <a:pPr>
                  <a:defRPr sz="800" b="0" i="0" u="none" strike="noStrike">
                    <a:solidFill>
                      <a:srgbClr val="686F7B"/>
                    </a:solidFill>
                    <a:latin typeface="Calibri"/>
                  </a:defRPr>
                </a:pPr>
                <a:r>
                  <a:rPr sz="800" b="0" i="0" u="none" strike="noStrike">
                    <a:solidFill>
                      <a:srgbClr val="686F7B"/>
                    </a:solidFill>
                    <a:latin typeface="Calibri"/>
                  </a:rPr>
                  <a:t>ошибка</a:t>
                </a:r>
              </a:p>
            </c:rich>
          </c:tx>
          <c:layout/>
          <c:overlay val="0"/>
        </c:title>
        <c:numFmt formatCode="0.0" sourceLinked="0"/>
        <c:majorTickMark val="out"/>
        <c:minorTickMark val="none"/>
        <c:tickLblPos val="nextTo"/>
        <c:spPr>
          <a:ln w="12700" cap="flat">
            <a:noFill/>
            <a:prstDash val="solid"/>
            <a:round/>
          </a:ln>
        </c:spPr>
        <c:txPr>
          <a:bodyPr/>
          <a:lstStyle/>
          <a:p>
            <a:pPr>
              <a:defRPr sz="800" b="0" i="0" u="none" strike="noStrike">
                <a:solidFill>
                  <a:srgbClr val="686F7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обучающая</c:v>
                </c:pt>
              </c:strCache>
            </c:strRef>
          </c:tx>
          <c:spPr>
            <a:solidFill>
              <a:srgbClr val="0F1B2D"/>
            </a:solidFill>
            <a:ln w="2540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1B2D"/>
              </a:solidFill>
              <a:ln w="9525" cap="flat">
                <a:solidFill>
                  <a:srgbClr val="0F1B2D"/>
                </a:solidFill>
                <a:prstDash val="solid"/>
                <a:round/>
              </a:ln>
              <a:effectLst/>
            </c:spPr>
          </c:marker>
          <c:cat>
            <c:multiLvlStrRef>
              <c:f>Sheet1!$A$2:$A$8</c:f>
              <c:multiLvlStrCache>
                <c:ptCount val="7"/>
                <c:lvl>
                  <c:pt idx="0">
                    <c:v>250</c:v>
                  </c:pt>
                  <c:pt idx="1">
                    <c:v>500</c:v>
                  </c:pt>
                  <c:pt idx="2">
                    <c:v>1000</c:v>
                  </c:pt>
                  <c:pt idx="3">
                    <c:v>2000</c:v>
                  </c:pt>
                  <c:pt idx="4">
                    <c:v>4000</c:v>
                  </c:pt>
                  <c:pt idx="5">
                    <c:v>8000</c:v>
                  </c:pt>
                  <c:pt idx="6">
                    <c:v>16000</c:v>
                  </c:pt>
                </c:lvl>
              </c:multiLvlStrCache>
            </c:multiLvlStrRef>
          </c:cat>
          <c:val>
            <c:numRef>
              <c:f>Sheet1!$B$2:$B$8</c:f>
              <c:numCache>
                <c:formatCode>General</c:formatCode>
                <c:ptCount val="7"/>
                <c:pt idx="0">
                  <c:v>0.02</c:v>
                </c:pt>
                <c:pt idx="1">
                  <c:v>0.04</c:v>
                </c:pt>
                <c:pt idx="2">
                  <c:v>0.06</c:v>
                </c:pt>
                <c:pt idx="3">
                  <c:v>0.08</c:v>
                </c:pt>
                <c:pt idx="4">
                  <c:v>0.09</c:v>
                </c:pt>
                <c:pt idx="5">
                  <c:v>0.1</c:v>
                </c:pt>
                <c:pt idx="6">
                  <c:v>0.105</c:v>
                </c:pt>
              </c:numCache>
            </c:numRef>
          </c:val>
          <c:smooth val="0"/>
        </c:ser>
        <c:ser>
          <c:idx val="1"/>
          <c:order val="1"/>
          <c:tx>
            <c:strRef>
              <c:f>Sheet1!$C$1</c:f>
              <c:strCache>
                <c:ptCount val="1"/>
                <c:pt idx="0">
                  <c:v>валидационная</c:v>
                </c:pt>
              </c:strCache>
            </c:strRef>
          </c:tx>
          <c:spPr>
            <a:solidFill>
              <a:srgbClr val="4C9BFF"/>
            </a:solidFill>
            <a:ln w="25400" cap="flat">
              <a:solidFill>
                <a:srgbClr val="4C9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4C9BFF"/>
              </a:solidFill>
              <a:ln w="9525" cap="flat">
                <a:solidFill>
                  <a:srgbClr val="4C9BFF"/>
                </a:solidFill>
                <a:prstDash val="solid"/>
                <a:round/>
              </a:ln>
              <a:effectLst/>
            </c:spPr>
          </c:marker>
          <c:cat>
            <c:multiLvlStrRef>
              <c:f>Sheet1!$A$2:$A$8</c:f>
              <c:multiLvlStrCache>
                <c:ptCount val="7"/>
                <c:lvl>
                  <c:pt idx="0">
                    <c:v>250</c:v>
                  </c:pt>
                  <c:pt idx="1">
                    <c:v>500</c:v>
                  </c:pt>
                  <c:pt idx="2">
                    <c:v>1000</c:v>
                  </c:pt>
                  <c:pt idx="3">
                    <c:v>2000</c:v>
                  </c:pt>
                  <c:pt idx="4">
                    <c:v>4000</c:v>
                  </c:pt>
                  <c:pt idx="5">
                    <c:v>8000</c:v>
                  </c:pt>
                  <c:pt idx="6">
                    <c:v>16000</c:v>
                  </c:pt>
                </c:lvl>
              </c:multiLvlStrCache>
            </c:multiLvlStrRef>
          </c:cat>
          <c:val>
            <c:numRef>
              <c:f>Sheet1!$C$2:$C$8</c:f>
              <c:numCache>
                <c:formatCode>General</c:formatCode>
                <c:ptCount val="7"/>
                <c:pt idx="0">
                  <c:v>0.45</c:v>
                </c:pt>
                <c:pt idx="1">
                  <c:v>0.36</c:v>
                </c:pt>
                <c:pt idx="2">
                  <c:v>0.29</c:v>
                </c:pt>
                <c:pt idx="3">
                  <c:v>0.23</c:v>
                </c:pt>
                <c:pt idx="4">
                  <c:v>0.19</c:v>
                </c:pt>
                <c:pt idx="5">
                  <c:v>0.16</c:v>
                </c:pt>
                <c:pt idx="6">
                  <c:v>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686F7B"/>
                    </a:solidFill>
                    <a:latin typeface="Calibri"/>
                  </a:defRPr>
                </a:pPr>
                <a:r>
                  <a:rPr sz="800" b="0" i="0" u="none" strike="noStrike">
                    <a:solidFill>
                      <a:srgbClr val="686F7B"/>
                    </a:solidFill>
                    <a:latin typeface="Calibri"/>
                  </a:rPr>
                  <a:t>размер обучающей выборки (удваивается)</a:t>
                </a:r>
              </a:p>
            </c:rich>
          </c:tx>
          <c:layout/>
          <c:overlay val="0"/>
        </c:title>
        <c:numFmt formatCode="General" sourceLinked="1"/>
        <c:majorTickMark val="out"/>
        <c:minorTickMark val="none"/>
        <c:tickLblPos val="low"/>
        <c:spPr>
          <a:ln w="12700" cap="flat">
            <a:solidFill>
              <a:srgbClr val="C9CDD2"/>
            </a:solidFill>
            <a:prstDash val="solid"/>
            <a:round/>
          </a:ln>
        </c:spPr>
        <c:txPr>
          <a:bodyPr/>
          <a:lstStyle/>
          <a:p>
            <a:pPr>
              <a:defRPr sz="800" b="0" i="0" u="none" strike="noStrike">
                <a:solidFill>
                  <a:srgbClr val="686F7B"/>
                </a:solidFill>
                <a:latin typeface="Calibri"/>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E6E8EB"/>
              </a:solidFill>
              <a:prstDash val="solid"/>
              <a:round/>
            </a:ln>
          </c:spPr>
        </c:majorGridlines>
        <c:title>
          <c:tx>
            <c:rich>
              <a:bodyPr/>
              <a:lstStyle/>
              <a:p>
                <a:pPr>
                  <a:defRPr sz="800" b="0" i="0" u="none" strike="noStrike">
                    <a:solidFill>
                      <a:srgbClr val="686F7B"/>
                    </a:solidFill>
                    <a:latin typeface="Calibri"/>
                  </a:defRPr>
                </a:pPr>
                <a:r>
                  <a:rPr sz="800" b="0" i="0" u="none" strike="noStrike">
                    <a:solidFill>
                      <a:srgbClr val="686F7B"/>
                    </a:solidFill>
                    <a:latin typeface="Calibri"/>
                  </a:rPr>
                  <a:t>ошибка</a:t>
                </a:r>
              </a:p>
            </c:rich>
          </c:tx>
          <c:layout/>
          <c:overlay val="0"/>
        </c:title>
        <c:numFmt formatCode="0.0" sourceLinked="0"/>
        <c:majorTickMark val="out"/>
        <c:minorTickMark val="none"/>
        <c:tickLblPos val="nextTo"/>
        <c:spPr>
          <a:ln w="12700" cap="flat">
            <a:noFill/>
            <a:prstDash val="solid"/>
            <a:round/>
          </a:ln>
        </c:spPr>
        <c:txPr>
          <a:bodyPr/>
          <a:lstStyle/>
          <a:p>
            <a:pPr>
              <a:defRPr sz="800" b="0" i="0" u="none" strike="noStrike">
                <a:solidFill>
                  <a:srgbClr val="686F7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ошибка обучения</c:v>
                </c:pt>
              </c:strCache>
            </c:strRef>
          </c:tx>
          <c:spPr>
            <a:solidFill>
              <a:srgbClr val="4C9BFF"/>
            </a:solidFill>
            <a:ln w="31750" cap="flat">
              <a:solidFill>
                <a:srgbClr val="4C9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C9BFF"/>
              </a:solidFill>
              <a:ln w="9525" cap="flat">
                <a:solidFill>
                  <a:srgbClr val="4C9BFF"/>
                </a:solidFill>
                <a:prstDash val="solid"/>
                <a:round/>
              </a:ln>
              <a:effectLst/>
            </c:spPr>
          </c:marker>
          <c:cat>
            <c:multiLvlStrRef>
              <c:f>Sheet1!$A$2:$A$7</c:f>
              <c:multiLvlStrCache>
                <c:ptCount val="6"/>
                <c:lvl>
                  <c:pt idx="0">
                    <c:v>0,00001</c:v>
                  </c:pt>
                  <c:pt idx="1">
                    <c:v>0,0001</c:v>
                  </c:pt>
                  <c:pt idx="2">
                    <c:v>0,001</c:v>
                  </c:pt>
                  <c:pt idx="3">
                    <c:v>0,01</c:v>
                  </c:pt>
                  <c:pt idx="4">
                    <c:v>0,1</c:v>
                  </c:pt>
                  <c:pt idx="5">
                    <c:v>1</c:v>
                  </c:pt>
                </c:lvl>
              </c:multiLvlStrCache>
            </c:multiLvlStrRef>
          </c:cat>
          <c:val>
            <c:numRef>
              <c:f>Sheet1!$B$2:$B$7</c:f>
              <c:numCache>
                <c:formatCode>General</c:formatCode>
                <c:ptCount val="6"/>
                <c:pt idx="0">
                  <c:v>0.55</c:v>
                </c:pt>
                <c:pt idx="1">
                  <c:v>0.32</c:v>
                </c:pt>
                <c:pt idx="2">
                  <c:v>0.12</c:v>
                </c:pt>
                <c:pt idx="3">
                  <c:v>0.1</c:v>
                </c:pt>
                <c:pt idx="4">
                  <c:v>0.35</c:v>
                </c:pt>
                <c:pt idx="5">
                  <c:v>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686F7B"/>
                    </a:solidFill>
                    <a:latin typeface="Calibri"/>
                  </a:defRPr>
                </a:pPr>
                <a:r>
                  <a:rPr sz="800" b="0" i="0" u="none" strike="noStrike">
                    <a:solidFill>
                      <a:srgbClr val="686F7B"/>
                    </a:solidFill>
                    <a:latin typeface="Calibri"/>
                  </a:rPr>
                  <a:t>скорость обучения (логарифмическая шкала)</a:t>
                </a:r>
              </a:p>
            </c:rich>
          </c:tx>
          <c:layout/>
          <c:overlay val="0"/>
        </c:title>
        <c:numFmt formatCode="General" sourceLinked="1"/>
        <c:majorTickMark val="out"/>
        <c:minorTickMark val="none"/>
        <c:tickLblPos val="low"/>
        <c:spPr>
          <a:ln w="12700" cap="flat">
            <a:solidFill>
              <a:srgbClr val="C9CDD2"/>
            </a:solidFill>
            <a:prstDash val="solid"/>
            <a:round/>
          </a:ln>
        </c:spPr>
        <c:txPr>
          <a:bodyPr/>
          <a:lstStyle/>
          <a:p>
            <a:pPr>
              <a:defRPr sz="800" b="0" i="0" u="none" strike="noStrike">
                <a:solidFill>
                  <a:srgbClr val="686F7B"/>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8EB"/>
              </a:solidFill>
              <a:prstDash val="solid"/>
              <a:round/>
            </a:ln>
          </c:spPr>
        </c:majorGridlines>
        <c:title>
          <c:tx>
            <c:rich>
              <a:bodyPr/>
              <a:lstStyle/>
              <a:p>
                <a:pPr>
                  <a:defRPr sz="800" b="0" i="0" u="none" strike="noStrike">
                    <a:solidFill>
                      <a:srgbClr val="686F7B"/>
                    </a:solidFill>
                    <a:latin typeface="Calibri"/>
                  </a:defRPr>
                </a:pPr>
                <a:r>
                  <a:rPr sz="800" b="0" i="0" u="none" strike="noStrike">
                    <a:solidFill>
                      <a:srgbClr val="686F7B"/>
                    </a:solidFill>
                    <a:latin typeface="Calibri"/>
                  </a:rPr>
                  <a:t>ошибка обучения</a:t>
                </a:r>
              </a:p>
            </c:rich>
          </c:tx>
          <c:layout/>
          <c:overlay val="0"/>
        </c:title>
        <c:numFmt formatCode="0.0" sourceLinked="0"/>
        <c:majorTickMark val="out"/>
        <c:minorTickMark val="none"/>
        <c:tickLblPos val="nextTo"/>
        <c:spPr>
          <a:ln w="12700" cap="flat">
            <a:noFill/>
            <a:prstDash val="solid"/>
            <a:round/>
          </a:ln>
        </c:spPr>
        <c:txPr>
          <a:bodyPr/>
          <a:lstStyle/>
          <a:p>
            <a:pPr>
              <a:defRPr sz="800" b="0" i="0" u="none" strike="noStrike">
                <a:solidFill>
                  <a:srgbClr val="686F7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Последнее занятие Темы 1. За два блока мы собрали большой набор инструментов: сверточные и рекуррентные сети, оптимизаторы, инициализацию и нормализацию, регуляризацию, аугментацию, перенос обучения. Сегодня вопрос другой: в каком порядке всем этим пользоваться, чтобы за ограниченное время получить модель, которой можно доверять. Справа кадры из итоговой работы: камера беспилотника видит дорожный знак, и сеть должна сказать, какой это знак. Первый час – методология по главе 11 Гудфеллоу, следующие два – итоговая работа, после нее защита.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Прочитайте вопрос и дайте минуту на ответы. Обычно большинство говорит «да, 98 % – это много». Затем обратите внимание на картинку: кадры одного проезда, часть попала в обучение, часть в валидацию. Спросите: «Что на самом деле проверила такая валидация?» Подведите к двум мыслям. Первая: число на валидации ничего не значит, пока не ясно, как устроено разбиение (в прототипе при таком разбиении получается 0,98–1,00, а на новых проездах заметно меньше). Вторая: даже честные 98 % по кадрам не отвечают на вопрос, сколько знаков «Стоп» машина пропустит. Сегодня разберем, как не обмануть себя.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01. Четыре шага, которые Гудфеллоу (вслед за Эндрю Ыном) советует проходить в любом практическом проекте: метрика, базовая система, диагноз, изменения по одному.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Начало главы 11 (с. 355): для успеха в машинном обучении недостаточно знать алгоритмы; на практике успеха обычно добивается тот, кто правильно применяет широко известный алгоритм, а не тот, кто берет запутанный, не понимая, как он работает. Четыре шага на слайде. Первый: определить цель – метрику ошибки и уровень, который нас устроит. Второй: как можно скорее собрать сквозной конвейер «данные → модель → метрика». Третий: оснастить систему измерениями и найти узкое место – недообучение, переобучение, дефект данных или программы. Четвертый: менять по одному и по результатам измерений: собирать данные, настраивать гиперпараметры, менять модель. Подчеркните главное правило внизу: опыты дорогие, поэтому выбирать, что менять, надо по диагнозу, а не наугад.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11.1 (с. 356–358). Точность (доля правильных ответов) плоха, когда классы неравны: в примере Гудфеллоу классификатор редкой болезни, который всегда отвечает «здоров», получает 99,9999 %. Поэтому для редкого класса смотрят точность и полноту и объединяют их в F-меру (формула 11.1). Для нескольких классов F-меру считают для каждого класса и усредняют: это макроусреднение, у редкого класса тот же вес, что у частого. Кроме того, ошибки бывают неравной цены: в нашей работе пропуск знака «Стоп» хуже любой другой ошибки, поэтому за его полнотой следим отдельно. Справа пример Street View: распознавание номеров домов должно было давать 98 % верных ответов, как человек, а неуверенные снимки система отдавала людям; оптимизировали покрытие – долю снимков, на которые система отвечает, и в итоге оно превысило 95 %. Мораль: целевое значение задает задача, а не модель.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11.2 (с. 358–359). Рекомендации по умолчанию почти дословно совпадают с тем, что мы прошли. Для картинок – сверточная сеть с ReLU (Б1.3–Б1.4), для последовательностей – LSTM или GRU (Б1.5). Оптимизатор – SGD с импульсом и затухающей скоростью или Adam (Б2.1). Пакетная нормализация, особенно в сверточных сетях (Б2.2). Если данных не десятки миллионов – регуляризация с самого начала: ранняя остановка почти всегда, прореживание (Б2.3). Если задача похожа на изученную – скопировать модель, а то и обученные веса, например сеть с ImageNet (Б2.5). Внизу ориентир «модель, которая всегда называет самый частый класс»: любая настоящая модель должна быть заметно лучше, иначе в конвейере ошибка.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Главный инструмент диагноза – ошибка на обучающей и на валидационной выборках, лучше по эпохам. Слева схема недообучения: обе кривые высокие и близкие, модель не справляется даже с обучающими данными. Помогает: дольше учить, подобрать скорость обучения, взять модель больше. Справа схема переобучения: ошибка обучения падает почти до нуля, на валидации сначала падает, потом растет, между ними большой разрыв. Помогает: аугментация, снижение весов, прореживание, ранняя остановка, больше данных. Третий случай из таблицы внизу: валидация хорошая, а тест намного хуже – ищите утечку или сдвиг данных. Четвертый: потери не уменьшаются даже на крошечной выборке – это ошибка в коде или данных, а не «плохая модель». Кривые на слайде – схема, не результат опыта.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11.3 (с. 359–360). Начинающие любят перебирать алгоритмы, но часто разумнее собрать больше данных. Решение принимается по тем же двум ошибкам. Если плохо уже на обучающей выборке, новые данные не помогут: модель не использует и то, что есть; надо увеличить модель или настроить обучение, а если не помогает – проверить качество данных. Если на обучающей хорошо, а на валидации плохо, новые данные – одно из самых действенных средств; дешевая альтернатива – регуляризация. Сколько нужно данных, подскажет кривая обучения: ошибка от размера выборки, размер удобно удваивать (логарифмическая шкала). На схеме видно, что разрыв между кривыми сокращается медленно: добавка 10 % данных почти ничего не меняет. В нашей задаче «данные» – это новые проезды, а не новые кадры старых проездов.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02. Какие гиперпараметры важнее, как их перебирать и как отличить настоящее улучшение от случайности.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11.4.1 (с. 360–363). Цель ручной настройки – согласовать емкость модели со сложностью задачи. Гудфеллоу прямо пишет: если есть время настроить только один гиперпараметр, настройте скорость обучения. Слева схема из рисунка 11.1: ошибка обучения от скорости обучения в логарифмической шкале – U-образная кривая; слишком маленькая скорость – обучение идет медленно и застревает, слишком большая – ошибка растет, обучение расходится. Справа как другие гиперпараметры влияют на емкость: больше слоев и каналов – емкость растет; больше снижение весов и доля прореживания – емкость падает; аугментация тоже уменьшает эффективную емкость. Спросите: «Какой гиперпараметр вы тронете первым при недообучении? при переобучении?»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Разделы 11.4.3–11.4.4 (с. 364–366), рисунок 11.2 по Бергстре и Бенжио (2012). Поиск на сетке перебирает все сочетания: при m гиперпараметрах по n значений нужно n^m обучений. Беда в том, что обычно важны лишь немногие гиперпараметры. На рисунке важен только горизонтальный: сетка 3 × 3 проверила 9 сочетаний, но всего 3 разных значения важного гиперпараметра; случайный поиск за те же 9 опытов проверил 9 разных значений. Положительные величины вроде скорости обучения и коэффициента снижения весов выбирают логарифмически равномерно: показатель степени u равномерен, скорость равна 10^u (формулы 11.2–11.3). В итоговой работе так и сделано: u от −3,5 до −2,3, то есть скорость примерно от 0,0003 до 0,005.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Важная часть методологии, которой нет в виде отдельного раздела, но которая следует из всего сказанного. Результат одного обучения случаен: начальные веса, порядок пакетов, аугментация. Валидация в итоговой работе маленькая – около 45 проездов, а кадры внутри проезда почти одинаковы, поэтому одна ошибка на проезде меняет оценку на 0,02–0,03. Если два опыта отличаются на 0,01, а один и тот же опыт с другим зерном меняется на 0,03, утверждать, что первый лучше, нельзя. Правило: повторите лучший опыт с другим зерном и сравнивайте разницу с этим разбросом. Это то же самое, что разброс по блокам кросс-валидации в 9 классе.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03. Как понять, что «плохо» – это модель, а не ошибка в программе или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11.5 (с. 367–370). Отладка трудна по двум причинам: мы заранее не знаем, какое качество правильное, и части сети подстраиваются друг под друга, маскируя ошибку (пример Гудфеллоу: перепутанное обновление смещений, которое веса компенсируют). Шесть приемов. Смотреть на работу модели глазами, а не только на числа. Смотреть на самые уверенные ошибки: в Street View так нашли ошибку обрезки кадра, из-за которой цифры выпадали из изображения. Рассуждать по ошибкам обучения и теста (слайд 7). Переобучить крошечный набор: если сеть не может запомнить 64 примера, ищите ошибку в коде. Сверить градиенты с конечными разностями (мы делали это в Б1.2). Следить за гистограммами активаций и градиентов (Б2.2). Добавим седьмой простой прием: начальные потери. У случайной сети вероятности классов почти равны, поэтому перекрестная энтропия в начале должна быть около ln K; для 8 классов это 2,08.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частый способ обмануть себя, и он касается не модели, а разбиения. Если в данных есть группы почти одинаковых примеров (кадры одного проезда, снимки одного пациента, записи одного диктора, участки одного маршрута) и группа разрезана между обучением и валидацией, модель проверяется на почти копиях обучающих примеров. Оценка выходит завышенной, а на новых группах модель работает хуже. Решение – разбиение по группам: вся группа целиком попадает в одну часть, лучше со стратификацией по классу. Вверху кадры одного проезда из итоговой работы: фон и освещение почти не меняются. Внизу пример прототипа: при разбиении по кадрам оценка 0,98–1,00, по проездам в среднем 0,86, то есть на 0,03–0,24 ниже в зависимости от варианта. Это пример, числа у каждого варианта свои.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Без журнала через полчаса уже не вспомнить, какой опыт что показал. Правила на слайде: одно изменение за опыт, фиксированное зерно, каждое обучение – строка в журнале с настройками и метриками на валидации, бюджет опытов задан заранее (в итоговой работе – 8 обучений в ПР №5). Справа пример журнала: названия опытов и что в них менялось; столбцы с числами ученики заполнят своими. Журнал – обязательная часть отчета, и на защите спрашивают именно по нему.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Раздел 04. Задача, данные, ход работы, критерии и защита.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Сюжет из беспилотного транспорта. Детектор уже нашел знак на кадре и вырезал квадрат 32 × 32. Нужно определить один из 8 знаков: вверху – как они выглядят, внизу – реальные кадры из набора, с фоном, туманом, ночью и размытием. Пока машина подъезжает, камера снимает знак несколько раз: такая серия называется проездом. Самая опасная ошибка – не узнать «Стоп». Обратите внимание учеников, что знаки «Стоп» и «Въезд запрещен» оба красные с белым посередине, а «налево» и «направо» различаются только направлением стрелки.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 называйте ловушки прямо, это часть работы. Скажите только, что данные выгрузила служба сбора и проверять их – работа ученика. Слева что лежит в файле варианта. Справа четыре вопроса, которые стоит себе задать: все ли кадры действительно кадры со знаком; чем кадры одного проезда похожи друг на друга и что это значит для разбиения; все ли преобразования при аугментации сохраняют класс; все ли классы одинаково часты и одинаково важны. Если ученик задаст эти вопросы сам, он найдет все ловушки.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 №4 (первый час): первый взгляд на данные, сбой камеры и очистка, честное разбиение и нормализация по обучающей части, ориентир и отладка (начальные потери, переобучение 64 кадров), базовая модель и диагноз. ПР №5 (второй час): аугментация, случайный поиск гиперпараметров с повтором лучшего опыта на другом зерне, опасный класс и вес ошибки, один раз тест с голосованием по проезду, отчет. После каждого шага – вопросы с ответами своими словами и своими числами.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два часа ушли на решения, а не на повторный набор кода, рутинная часть уже написана. make_cnn – сеть в духе VGG: пять сверточных слоев с пакетной нормализацией, два пулинга, глобальное усреднение, выходной слой на 8 классов; при width = 32 у нее 140 776 параметров. train_model – цикл обучения с AdamW, косинусным расписанием и ранней остановкой по F-мере на валидации. Еще готовы predict, scores, рисунки и журнал log. По желанию можно взять ResNet-18 с весами ImageNet из Б2.5: make_resnet18 с нормализацией IMAGENET_NORM. Ученик пишет анализ данных, очистку, разбиение, аугментацию, опыты, проверку на тесте и отчет. Правила внизу: зерно 42, тест только в шаге 9 и один раз, не больше 8 обучений в ПР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Кратко о критериях: за каждую работу до 10 баллов, шкала 9–10 «5», 7–8 «4», 5–6 «3». ПР №4: осмотр и очистка – 3, разбиение – 3, отладка и базовая модель – 3, ответы и выводы – 1. ПР №5: аугментация – 3, поиск и опасный класс – 3, тест – 2, отчет и журнал – 2. Назовите типичные ошибки, за которые снимается балл: случайное разбиение по кадрам, оставленные испорченные кадры, нормализация по всем данным, отражение в итоговой модели, выбор модели по тесту, выводы из разницы меньше шума.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Формат: 5–7 минут, ученик открывает свой ноутбук, учитель задает три вопроса: по ноутбуку (почему так сделано, что значат числа), по Блоку 1 (архитектуры, обратное распространение, свертки, рекуррентные сети) и по Блоку 2 (оптимизация, нормализация, регуляризация, аугментация, перенос, методология). Оценка: «5» – уверенные ответы на все три вопроса и объяснение своих чисел; «4» – один ответ неполный; «3» – два ответа неполные, но ученик понимает свой ноутбук; «2» – ученик не может объяснить собственный код и числа.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Подведите итог семью пунктами, которые пригодятся в любой задаче, не только в этой. Метрика и целевое значение – до первой строки кода. Ориентир и проверка конвейера: начальные потери, переобучение крошечного набора. Разбиение, повторяющее будущую работу модели, с группами. Диагноз по двум ошибкам. Изменения по одному, с журналом. Сравнение с шумом. Тест – один раз, в самом конце. Анонсируйте Тему 2: дальше последовательности, внимание и трансформеры, и тот же порядок работы.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work/b26/img/title.png">    </p:cNvPr>
          <p:cNvPicPr>
            <a:picLocks noChangeAspect="1"/>
          </p:cNvPicPr>
          <p:nvPr/>
        </p:nvPicPr>
        <p:blipFill>
          <a:blip r:embed="rId1"/>
          <a:stretch>
            <a:fillRect/>
          </a:stretch>
        </p:blipFill>
        <p:spPr>
          <a:xfrm>
            <a:off x="4572000" y="0"/>
            <a:ext cx="4572000" cy="5143500"/>
          </a:xfrm>
          <a:prstGeom prst="rect">
            <a:avLst/>
          </a:prstGeom>
        </p:spPr>
      </p:pic>
      <p:sp>
        <p:nvSpPr>
          <p:cNvPr id="3" name="Text 0"/>
          <p:cNvSpPr txBox="1"/>
          <p:nvPr/>
        </p:nvSpPr>
        <p:spPr>
          <a:xfrm>
            <a:off x="457200" y="960120"/>
            <a:ext cx="393192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КУРС «ИСКУССТВЕННЫЙ ИНТЕЛЛЕКТ» · 10 КЛАСС</a:t>
            </a:r>
            <a:endParaRPr lang="en-US" sz="800" dirty="0"/>
          </a:p>
        </p:txBody>
      </p:sp>
      <p:sp>
        <p:nvSpPr>
          <p:cNvPr id="4" name="Text 1"/>
          <p:cNvSpPr txBox="1"/>
          <p:nvPr/>
        </p:nvSpPr>
        <p:spPr>
          <a:xfrm>
            <a:off x="457200" y="1280160"/>
            <a:ext cx="4023360" cy="1371600"/>
          </a:xfrm>
          <a:prstGeom prst="rect">
            <a:avLst/>
          </a:prstGeom>
          <a:noFill/>
          <a:ln/>
        </p:spPr>
        <p:txBody>
          <a:bodyPr wrap="square" lIns="0" tIns="0" rIns="0" bIns="0" rtlCol="0" anchor="t"/>
          <a:lstStyle/>
          <a:p>
            <a:pPr indent="0" marL="0">
              <a:buNone/>
            </a:pPr>
            <a:r>
              <a:rPr lang="en-US" sz="2400" b="1" dirty="0">
                <a:solidFill>
                  <a:srgbClr val="0F1B2D"/>
                </a:solidFill>
                <a:latin typeface="Cambria" pitchFamily="34" charset="0"/>
                <a:ea typeface="Cambria" pitchFamily="34" charset="-122"/>
                <a:cs typeface="Cambria" pitchFamily="34" charset="-120"/>
              </a:rPr>
              <a:t>Практическая</a:t>
            </a:r>
            <a:endParaRPr lang="en-US" sz="2400" dirty="0"/>
          </a:p>
          <a:p>
            <a:pPr indent="0" marL="0">
              <a:buNone/>
            </a:pPr>
            <a:r>
              <a:rPr lang="en-US" sz="2400" b="1" dirty="0">
                <a:solidFill>
                  <a:srgbClr val="0F1B2D"/>
                </a:solidFill>
                <a:latin typeface="Cambria" pitchFamily="34" charset="0"/>
                <a:ea typeface="Cambria" pitchFamily="34" charset="-122"/>
                <a:cs typeface="Cambria" pitchFamily="34" charset="-120"/>
              </a:rPr>
              <a:t>методология:</a:t>
            </a:r>
            <a:endParaRPr lang="en-US" sz="2400" dirty="0"/>
          </a:p>
          <a:p>
            <a:pPr indent="0" marL="0">
              <a:buNone/>
            </a:pPr>
            <a:r>
              <a:rPr lang="en-US" sz="2400" b="1" dirty="0">
                <a:solidFill>
                  <a:srgbClr val="4C9BFF"/>
                </a:solidFill>
                <a:latin typeface="Cambria" pitchFamily="34" charset="0"/>
                <a:ea typeface="Cambria" pitchFamily="34" charset="-122"/>
                <a:cs typeface="Cambria" pitchFamily="34" charset="-120"/>
              </a:rPr>
              <a:t>от задачи до модели</a:t>
            </a:r>
            <a:endParaRPr lang="en-US" sz="2400" dirty="0"/>
          </a:p>
        </p:txBody>
      </p:sp>
      <p:sp>
        <p:nvSpPr>
          <p:cNvPr id="5" name="Text 2"/>
          <p:cNvSpPr txBox="1"/>
          <p:nvPr/>
        </p:nvSpPr>
        <p:spPr>
          <a:xfrm>
            <a:off x="457200" y="2880360"/>
            <a:ext cx="3931920" cy="274320"/>
          </a:xfrm>
          <a:prstGeom prst="rect">
            <a:avLst/>
          </a:prstGeom>
          <a:noFill/>
          <a:ln/>
        </p:spPr>
        <p:txBody>
          <a:bodyPr wrap="square" lIns="0" tIns="0" rIns="0" bIns="0" rtlCol="0" anchor="t"/>
          <a:lstStyle/>
          <a:p>
            <a:pPr indent="0" marL="0">
              <a:buNone/>
            </a:pPr>
            <a:r>
              <a:rPr lang="en-US" sz="1100" dirty="0">
                <a:solidFill>
                  <a:srgbClr val="686F7B"/>
                </a:solidFill>
                <a:latin typeface="Calibri" pitchFamily="34" charset="0"/>
                <a:ea typeface="Calibri" pitchFamily="34" charset="-122"/>
                <a:cs typeface="Calibri" pitchFamily="34" charset="-120"/>
              </a:rPr>
              <a:t>Итоговая работа по Теме 1 (ПР №4 и ПР №5)</a:t>
            </a:r>
            <a:endParaRPr lang="en-US" sz="1100" dirty="0"/>
          </a:p>
        </p:txBody>
      </p:sp>
      <p:sp>
        <p:nvSpPr>
          <p:cNvPr id="6" name="Shape 3"/>
          <p:cNvSpPr/>
          <p:nvPr/>
        </p:nvSpPr>
        <p:spPr>
          <a:xfrm>
            <a:off x="457200" y="3611880"/>
            <a:ext cx="457200" cy="402336"/>
          </a:xfrm>
          <a:prstGeom prst="hexagon">
            <a:avLst/>
          </a:prstGeom>
          <a:solidFill>
            <a:srgbClr val="0F1B2D"/>
          </a:solidFill>
          <a:ln w="6350">
            <a:solidFill>
              <a:srgbClr val="0F1B2D"/>
            </a:solidFill>
            <a:prstDash val="solid"/>
          </a:ln>
        </p:spPr>
      </p:sp>
      <p:sp>
        <p:nvSpPr>
          <p:cNvPr id="7" name="Text 4"/>
          <p:cNvSpPr txBox="1"/>
          <p:nvPr/>
        </p:nvSpPr>
        <p:spPr>
          <a:xfrm>
            <a:off x="457200" y="3611880"/>
            <a:ext cx="4572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DL</a:t>
            </a:r>
            <a:endParaRPr lang="en-US" sz="900" dirty="0"/>
          </a:p>
        </p:txBody>
      </p:sp>
      <p:sp>
        <p:nvSpPr>
          <p:cNvPr id="8" name="Text 5"/>
          <p:cNvSpPr txBox="1"/>
          <p:nvPr/>
        </p:nvSpPr>
        <p:spPr>
          <a:xfrm>
            <a:off x="1051560" y="3657600"/>
            <a:ext cx="3108960" cy="365760"/>
          </a:xfrm>
          <a:prstGeom prst="rect">
            <a:avLst/>
          </a:prstGeom>
          <a:noFill/>
          <a:ln/>
        </p:spPr>
        <p:txBody>
          <a:bodyPr wrap="square" lIns="0" tIns="0" rIns="0" bIns="0" rtlCol="0" anchor="ctr"/>
          <a:lstStyle/>
          <a:p>
            <a:pPr indent="0" marL="0">
              <a:buNone/>
            </a:pPr>
            <a:r>
              <a:rPr lang="en-US" sz="900" b="1" dirty="0">
                <a:solidFill>
                  <a:srgbClr val="0F1B2D"/>
                </a:solidFill>
                <a:latin typeface="Calibri" pitchFamily="34" charset="0"/>
                <a:ea typeface="Calibri" pitchFamily="34" charset="-122"/>
                <a:cs typeface="Calibri" pitchFamily="34" charset="-120"/>
              </a:rPr>
              <a:t>Инженерная школа «УникУм», КузГТУ им. Т. Ф. Горбачева</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work/b26/img/question.png">    </p:cNvPr>
          <p:cNvPicPr>
            <a:picLocks noChangeAspect="1"/>
          </p:cNvPicPr>
          <p:nvPr/>
        </p:nvPicPr>
        <p:blipFill>
          <a:blip r:embed="rId1"/>
          <a:stretch>
            <a:fillRect/>
          </a:stretch>
        </p:blipFill>
        <p:spPr>
          <a:xfrm>
            <a:off x="0" y="0"/>
            <a:ext cx="4206240" cy="5143500"/>
          </a:xfrm>
          <a:prstGeom prst="rect">
            <a:avLst/>
          </a:prstGeom>
        </p:spPr>
      </p:pic>
      <p:sp>
        <p:nvSpPr>
          <p:cNvPr id="3" name="Shape 0"/>
          <p:cNvSpPr/>
          <p:nvPr/>
        </p:nvSpPr>
        <p:spPr>
          <a:xfrm>
            <a:off x="4754880" y="1078992"/>
            <a:ext cx="566928" cy="502920"/>
          </a:xfrm>
          <a:prstGeom prst="hexagon">
            <a:avLst/>
          </a:prstGeom>
          <a:solidFill>
            <a:srgbClr val="EAF2FF"/>
          </a:solidFill>
          <a:ln w="6350">
            <a:solidFill>
              <a:srgbClr val="EAF2FF"/>
            </a:solidFill>
            <a:prstDash val="solid"/>
          </a:ln>
        </p:spPr>
      </p:sp>
      <p:sp>
        <p:nvSpPr>
          <p:cNvPr id="4" name="Text 1"/>
          <p:cNvSpPr txBox="1"/>
          <p:nvPr/>
        </p:nvSpPr>
        <p:spPr>
          <a:xfrm>
            <a:off x="4754880" y="1078992"/>
            <a:ext cx="566928" cy="502920"/>
          </a:xfrm>
          <a:prstGeom prst="rect">
            <a:avLst/>
          </a:prstGeom>
          <a:noFill/>
          <a:ln/>
        </p:spPr>
        <p:txBody>
          <a:bodyPr wrap="square" lIns="0" tIns="0" rIns="0" bIns="0" rtlCol="0" anchor="ctr"/>
          <a:lstStyle/>
          <a:p>
            <a:pPr algn="ctr" indent="0" marL="0">
              <a:buNone/>
            </a:pPr>
            <a:r>
              <a:rPr lang="en-US" sz="900" b="1" dirty="0">
                <a:solidFill>
                  <a:srgbClr val="1F63C9"/>
                </a:solidFill>
                <a:latin typeface="Calibri" pitchFamily="34" charset="0"/>
                <a:ea typeface="Calibri" pitchFamily="34" charset="-122"/>
                <a:cs typeface="Calibri" pitchFamily="34" charset="-120"/>
              </a:rPr>
              <a:t>?</a:t>
            </a:r>
            <a:endParaRPr lang="en-US" sz="900" dirty="0"/>
          </a:p>
        </p:txBody>
      </p:sp>
      <p:sp>
        <p:nvSpPr>
          <p:cNvPr id="5" name="Text 2"/>
          <p:cNvSpPr txBox="1"/>
          <p:nvPr/>
        </p:nvSpPr>
        <p:spPr>
          <a:xfrm>
            <a:off x="4754880" y="1737360"/>
            <a:ext cx="3931920" cy="1280160"/>
          </a:xfrm>
          <a:prstGeom prst="rect">
            <a:avLst/>
          </a:prstGeom>
          <a:noFill/>
          <a:ln/>
        </p:spPr>
        <p:txBody>
          <a:bodyPr wrap="square" lIns="0" tIns="0" rIns="0" bIns="0" rtlCol="0" anchor="t"/>
          <a:lstStyle/>
          <a:p>
            <a:pPr indent="0" marL="0">
              <a:buNone/>
            </a:pPr>
            <a:r>
              <a:rPr lang="en-US" sz="1800" b="1" dirty="0">
                <a:solidFill>
                  <a:srgbClr val="0F1B2D"/>
                </a:solidFill>
                <a:latin typeface="Cambria" pitchFamily="34" charset="0"/>
                <a:ea typeface="Cambria" pitchFamily="34" charset="-122"/>
                <a:cs typeface="Cambria" pitchFamily="34" charset="-120"/>
              </a:rPr>
              <a:t>«Точность на валидации 0,98. Можно ставить модель в автомобиль?»</a:t>
            </a:r>
            <a:endParaRPr lang="en-US" sz="1800" dirty="0"/>
          </a:p>
        </p:txBody>
      </p:sp>
      <p:sp>
        <p:nvSpPr>
          <p:cNvPr id="6" name="Text 3"/>
          <p:cNvSpPr txBox="1"/>
          <p:nvPr/>
        </p:nvSpPr>
        <p:spPr>
          <a:xfrm>
            <a:off x="4754880" y="3200400"/>
            <a:ext cx="3840480" cy="914400"/>
          </a:xfrm>
          <a:prstGeom prst="rect">
            <a:avLst/>
          </a:prstGeom>
          <a:noFill/>
          <a:ln/>
        </p:spPr>
        <p:txBody>
          <a:bodyPr wrap="square" lIns="0" tIns="0" rIns="0" bIns="0" rtlCol="0" anchor="t"/>
          <a:lstStyle/>
          <a:p>
            <a:pPr indent="0" marL="0">
              <a:buNone/>
            </a:pPr>
            <a:r>
              <a:rPr lang="en-US" sz="1000" dirty="0">
                <a:solidFill>
                  <a:srgbClr val="686F7B"/>
                </a:solidFill>
                <a:latin typeface="Calibri" pitchFamily="34" charset="0"/>
                <a:ea typeface="Calibri" pitchFamily="34" charset="-122"/>
                <a:cs typeface="Calibri" pitchFamily="34" charset="-120"/>
              </a:rPr>
              <a:t>Слева – кадры одного проезда: часть попала в обучение, часть в валидацию. Что на самом деле проверила такая валидация? И сколько знаков «Стоп» машина пропустит?</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work/b26/img/sec1.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4800" b="1" dirty="0">
                <a:solidFill>
                  <a:srgbClr val="4C9BFF"/>
                </a:solidFill>
                <a:latin typeface="Cambria" pitchFamily="34" charset="0"/>
                <a:ea typeface="Cambria" pitchFamily="34" charset="-122"/>
                <a:cs typeface="Cambria" pitchFamily="34" charset="-120"/>
              </a:rPr>
              <a:t>01</a:t>
            </a:r>
            <a:endParaRPr lang="en-US" sz="4800" dirty="0"/>
          </a:p>
        </p:txBody>
      </p:sp>
      <p:sp>
        <p:nvSpPr>
          <p:cNvPr id="4" name="Text 1"/>
          <p:cNvSpPr txBox="1"/>
          <p:nvPr/>
        </p:nvSpPr>
        <p:spPr>
          <a:xfrm>
            <a:off x="548640" y="2103120"/>
            <a:ext cx="3566160" cy="1188720"/>
          </a:xfrm>
          <a:prstGeom prst="rect">
            <a:avLst/>
          </a:prstGeom>
          <a:noFill/>
          <a:ln/>
        </p:spPr>
        <p:txBody>
          <a:bodyPr wrap="square" lIns="0" tIns="0" rIns="0" bIns="0" rtlCol="0" anchor="ctr"/>
          <a:lstStyle/>
          <a:p>
            <a:pPr indent="0" marL="0">
              <a:buNone/>
            </a:pPr>
            <a:r>
              <a:rPr lang="en-US" sz="2200" b="1" dirty="0">
                <a:solidFill>
                  <a:srgbClr val="0F1B2D"/>
                </a:solidFill>
                <a:latin typeface="Cambria" pitchFamily="34" charset="0"/>
                <a:ea typeface="Cambria" pitchFamily="34" charset="-122"/>
                <a:cs typeface="Cambria" pitchFamily="34" charset="-120"/>
              </a:rPr>
              <a:t>Порядок работы</a:t>
            </a:r>
            <a:endParaRPr lang="en-US" sz="2200" dirty="0"/>
          </a:p>
        </p:txBody>
      </p:sp>
      <p:sp>
        <p:nvSpPr>
          <p:cNvPr id="5" name="Text 2"/>
          <p:cNvSpPr txBox="1"/>
          <p:nvPr/>
        </p:nvSpPr>
        <p:spPr>
          <a:xfrm>
            <a:off x="548640" y="3429000"/>
            <a:ext cx="3291840" cy="731520"/>
          </a:xfrm>
          <a:prstGeom prst="rect">
            <a:avLst/>
          </a:prstGeom>
          <a:noFill/>
          <a:ln/>
        </p:spPr>
        <p:txBody>
          <a:bodyPr wrap="square" lIns="0" tIns="0" rIns="0" bIns="0" rtlCol="0" anchor="t"/>
          <a:lstStyle/>
          <a:p>
            <a:pPr indent="0" marL="0">
              <a:buNone/>
            </a:pPr>
            <a:r>
              <a:rPr lang="en-US" sz="1000" dirty="0">
                <a:solidFill>
                  <a:srgbClr val="686F7B"/>
                </a:solidFill>
                <a:latin typeface="Calibri" pitchFamily="34" charset="0"/>
                <a:ea typeface="Calibri" pitchFamily="34" charset="-122"/>
                <a:cs typeface="Calibri" pitchFamily="34" charset="-120"/>
              </a:rPr>
              <a:t>Метрика, базовая система, диагноз, изменения по одному (Гудфеллоу, глава 11)</a:t>
            </a:r>
            <a:endParaRPr lang="en-US" sz="10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ГЛАВА 11</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Знать алгоритмы мало</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143000"/>
            <a:ext cx="1938528" cy="1783080"/>
          </a:xfrm>
          <a:prstGeom prst="rect">
            <a:avLst/>
          </a:prstGeom>
          <a:solidFill>
            <a:srgbClr val="FFFFFF"/>
          </a:solidFill>
          <a:ln w="9525">
            <a:solidFill>
              <a:srgbClr val="E1E3E5"/>
            </a:solidFill>
            <a:prstDash val="solid"/>
          </a:ln>
        </p:spPr>
      </p:sp>
      <p:sp>
        <p:nvSpPr>
          <p:cNvPr id="7" name="Text 5"/>
          <p:cNvSpPr txBox="1"/>
          <p:nvPr/>
        </p:nvSpPr>
        <p:spPr>
          <a:xfrm>
            <a:off x="658368" y="1325880"/>
            <a:ext cx="1572768"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ШАГ 1</a:t>
            </a:r>
            <a:endParaRPr lang="en-US" sz="700" dirty="0"/>
          </a:p>
        </p:txBody>
      </p:sp>
      <p:sp>
        <p:nvSpPr>
          <p:cNvPr id="8" name="Text 6"/>
          <p:cNvSpPr txBox="1"/>
          <p:nvPr/>
        </p:nvSpPr>
        <p:spPr>
          <a:xfrm>
            <a:off x="658368" y="1645920"/>
            <a:ext cx="1572768" cy="731520"/>
          </a:xfrm>
          <a:prstGeom prst="rect">
            <a:avLst/>
          </a:prstGeom>
          <a:noFill/>
          <a:ln/>
        </p:spPr>
        <p:txBody>
          <a:bodyPr wrap="square" lIns="0" tIns="0" rIns="0" bIns="0" rtlCol="0" anchor="t"/>
          <a:lstStyle/>
          <a:p>
            <a:pPr indent="0" marL="0">
              <a:spcAft>
                <a:spcPts val="300"/>
              </a:spcAft>
              <a:buNone/>
            </a:pPr>
            <a:r>
              <a:rPr lang="en-US" sz="1600" b="1" dirty="0">
                <a:solidFill>
                  <a:srgbClr val="0F1B2D"/>
                </a:solidFill>
                <a:latin typeface="Cambria" pitchFamily="34" charset="0"/>
                <a:ea typeface="Cambria" pitchFamily="34" charset="-122"/>
                <a:cs typeface="Cambria" pitchFamily="34" charset="-120"/>
              </a:rPr>
              <a:t>Цель</a:t>
            </a:r>
            <a:endParaRPr lang="en-US" sz="1600" dirty="0"/>
          </a:p>
        </p:txBody>
      </p:sp>
      <p:sp>
        <p:nvSpPr>
          <p:cNvPr id="9" name="Text 7"/>
          <p:cNvSpPr txBox="1"/>
          <p:nvPr/>
        </p:nvSpPr>
        <p:spPr>
          <a:xfrm>
            <a:off x="658368" y="2423160"/>
            <a:ext cx="1572768" cy="36576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метрика ошибки и уровень, который устроит</a:t>
            </a:r>
            <a:endParaRPr lang="en-US" sz="900" dirty="0"/>
          </a:p>
        </p:txBody>
      </p:sp>
      <p:sp>
        <p:nvSpPr>
          <p:cNvPr id="10" name="Shape 8"/>
          <p:cNvSpPr/>
          <p:nvPr/>
        </p:nvSpPr>
        <p:spPr>
          <a:xfrm>
            <a:off x="2532888" y="1143000"/>
            <a:ext cx="1938528" cy="1783080"/>
          </a:xfrm>
          <a:prstGeom prst="rect">
            <a:avLst/>
          </a:prstGeom>
          <a:solidFill>
            <a:srgbClr val="FFFFFF"/>
          </a:solidFill>
          <a:ln w="9525">
            <a:solidFill>
              <a:srgbClr val="E1E3E5"/>
            </a:solidFill>
            <a:prstDash val="solid"/>
          </a:ln>
        </p:spPr>
      </p:sp>
      <p:sp>
        <p:nvSpPr>
          <p:cNvPr id="11" name="Text 9"/>
          <p:cNvSpPr txBox="1"/>
          <p:nvPr/>
        </p:nvSpPr>
        <p:spPr>
          <a:xfrm>
            <a:off x="2734056" y="1325880"/>
            <a:ext cx="1572768"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ШАГ 2</a:t>
            </a:r>
            <a:endParaRPr lang="en-US" sz="700" dirty="0"/>
          </a:p>
        </p:txBody>
      </p:sp>
      <p:sp>
        <p:nvSpPr>
          <p:cNvPr id="12" name="Text 10"/>
          <p:cNvSpPr txBox="1"/>
          <p:nvPr/>
        </p:nvSpPr>
        <p:spPr>
          <a:xfrm>
            <a:off x="2734056" y="1645920"/>
            <a:ext cx="1572768" cy="731520"/>
          </a:xfrm>
          <a:prstGeom prst="rect">
            <a:avLst/>
          </a:prstGeom>
          <a:noFill/>
          <a:ln/>
        </p:spPr>
        <p:txBody>
          <a:bodyPr wrap="square" lIns="0" tIns="0" rIns="0" bIns="0" rtlCol="0" anchor="t"/>
          <a:lstStyle/>
          <a:p>
            <a:pPr indent="0" marL="0">
              <a:spcAft>
                <a:spcPts val="300"/>
              </a:spcAft>
              <a:buNone/>
            </a:pPr>
            <a:r>
              <a:rPr lang="en-US" sz="1600" b="1" dirty="0">
                <a:solidFill>
                  <a:srgbClr val="0F1B2D"/>
                </a:solidFill>
                <a:latin typeface="Cambria" pitchFamily="34" charset="0"/>
                <a:ea typeface="Cambria" pitchFamily="34" charset="-122"/>
                <a:cs typeface="Cambria" pitchFamily="34" charset="-120"/>
              </a:rPr>
              <a:t>Конвейер</a:t>
            </a:r>
            <a:endParaRPr lang="en-US" sz="1600" dirty="0"/>
          </a:p>
        </p:txBody>
      </p:sp>
      <p:sp>
        <p:nvSpPr>
          <p:cNvPr id="13" name="Text 11"/>
          <p:cNvSpPr txBox="1"/>
          <p:nvPr/>
        </p:nvSpPr>
        <p:spPr>
          <a:xfrm>
            <a:off x="2734056" y="2423160"/>
            <a:ext cx="1572768" cy="36576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как можно скорее: данные </a:t>
            </a:r>
            <a:pPr indent="0" marL="0">
              <a:buNone/>
            </a:pPr>
            <a:r>
              <a:rPr lang="en-US" sz="900" dirty="0">
                <a:solidFill>
                  <a:srgbClr val="686F7B"/>
                </a:solidFill>
                <a:latin typeface="Calibri" pitchFamily="34" charset="0"/>
                <a:ea typeface="Calibri" pitchFamily="34" charset="-122"/>
                <a:cs typeface="Calibri" pitchFamily="34" charset="-120"/>
              </a:rPr>
              <a:t>→</a:t>
            </a:r>
            <a:pPr indent="0" marL="0">
              <a:buNone/>
            </a:pPr>
            <a:r>
              <a:rPr lang="en-US" sz="900" dirty="0">
                <a:solidFill>
                  <a:srgbClr val="686F7B"/>
                </a:solidFill>
                <a:latin typeface="Calibri" pitchFamily="34" charset="0"/>
                <a:ea typeface="Calibri" pitchFamily="34" charset="-122"/>
                <a:cs typeface="Calibri" pitchFamily="34" charset="-120"/>
              </a:rPr>
              <a:t> модель </a:t>
            </a:r>
            <a:pPr indent="0" marL="0">
              <a:buNone/>
            </a:pPr>
            <a:r>
              <a:rPr lang="en-US" sz="900" dirty="0">
                <a:solidFill>
                  <a:srgbClr val="686F7B"/>
                </a:solidFill>
                <a:latin typeface="Calibri" pitchFamily="34" charset="0"/>
                <a:ea typeface="Calibri" pitchFamily="34" charset="-122"/>
                <a:cs typeface="Calibri" pitchFamily="34" charset="-120"/>
              </a:rPr>
              <a:t>→</a:t>
            </a:r>
            <a:pPr indent="0" marL="0">
              <a:buNone/>
            </a:pPr>
            <a:r>
              <a:rPr lang="en-US" sz="900" dirty="0">
                <a:solidFill>
                  <a:srgbClr val="686F7B"/>
                </a:solidFill>
                <a:latin typeface="Calibri" pitchFamily="34" charset="0"/>
                <a:ea typeface="Calibri" pitchFamily="34" charset="-122"/>
                <a:cs typeface="Calibri" pitchFamily="34" charset="-120"/>
              </a:rPr>
              <a:t> метрика</a:t>
            </a:r>
            <a:endParaRPr lang="en-US" sz="900" dirty="0"/>
          </a:p>
        </p:txBody>
      </p:sp>
      <p:sp>
        <p:nvSpPr>
          <p:cNvPr id="14" name="Shape 12"/>
          <p:cNvSpPr/>
          <p:nvPr/>
        </p:nvSpPr>
        <p:spPr>
          <a:xfrm>
            <a:off x="4608576" y="1143000"/>
            <a:ext cx="1938528" cy="1783080"/>
          </a:xfrm>
          <a:prstGeom prst="rect">
            <a:avLst/>
          </a:prstGeom>
          <a:solidFill>
            <a:srgbClr val="0F1B2D"/>
          </a:solidFill>
          <a:ln w="9525">
            <a:solidFill>
              <a:srgbClr val="0F1B2D"/>
            </a:solidFill>
            <a:prstDash val="solid"/>
          </a:ln>
        </p:spPr>
      </p:sp>
      <p:sp>
        <p:nvSpPr>
          <p:cNvPr id="15" name="Text 13"/>
          <p:cNvSpPr txBox="1"/>
          <p:nvPr/>
        </p:nvSpPr>
        <p:spPr>
          <a:xfrm>
            <a:off x="4809744" y="1325880"/>
            <a:ext cx="1572768" cy="182880"/>
          </a:xfrm>
          <a:prstGeom prst="rect">
            <a:avLst/>
          </a:prstGeom>
          <a:noFill/>
          <a:ln/>
        </p:spPr>
        <p:txBody>
          <a:bodyPr wrap="square" lIns="0" tIns="0" rIns="0" bIns="0" rtlCol="0" anchor="t"/>
          <a:lstStyle/>
          <a:p>
            <a:pPr indent="0" marL="0">
              <a:buNone/>
            </a:pPr>
            <a:r>
              <a:rPr lang="en-US" sz="700" b="1" spc="200" kern="0" dirty="0">
                <a:solidFill>
                  <a:srgbClr val="4C9BFF"/>
                </a:solidFill>
                <a:latin typeface="Calibri" pitchFamily="34" charset="0"/>
                <a:ea typeface="Calibri" pitchFamily="34" charset="-122"/>
                <a:cs typeface="Calibri" pitchFamily="34" charset="-120"/>
              </a:rPr>
              <a:t>ШАГ 3</a:t>
            </a:r>
            <a:endParaRPr lang="en-US" sz="700" dirty="0"/>
          </a:p>
        </p:txBody>
      </p:sp>
      <p:sp>
        <p:nvSpPr>
          <p:cNvPr id="16" name="Text 14"/>
          <p:cNvSpPr txBox="1"/>
          <p:nvPr/>
        </p:nvSpPr>
        <p:spPr>
          <a:xfrm>
            <a:off x="4809744" y="1645920"/>
            <a:ext cx="1572768" cy="731520"/>
          </a:xfrm>
          <a:prstGeom prst="rect">
            <a:avLst/>
          </a:prstGeom>
          <a:noFill/>
          <a:ln/>
        </p:spPr>
        <p:txBody>
          <a:bodyPr wrap="square" lIns="0" tIns="0" rIns="0" bIns="0" rtlCol="0" anchor="t"/>
          <a:lstStyle/>
          <a:p>
            <a:pPr indent="0" marL="0">
              <a:spcAft>
                <a:spcPts val="300"/>
              </a:spcAft>
              <a:buNone/>
            </a:pPr>
            <a:r>
              <a:rPr lang="en-US" sz="1600" b="1" dirty="0">
                <a:solidFill>
                  <a:srgbClr val="4C9BFF"/>
                </a:solidFill>
                <a:latin typeface="Cambria" pitchFamily="34" charset="0"/>
                <a:ea typeface="Cambria" pitchFamily="34" charset="-122"/>
                <a:cs typeface="Cambria" pitchFamily="34" charset="-120"/>
              </a:rPr>
              <a:t>Диагноз</a:t>
            </a:r>
            <a:endParaRPr lang="en-US" sz="1600" dirty="0"/>
          </a:p>
        </p:txBody>
      </p:sp>
      <p:sp>
        <p:nvSpPr>
          <p:cNvPr id="17" name="Text 15"/>
          <p:cNvSpPr txBox="1"/>
          <p:nvPr/>
        </p:nvSpPr>
        <p:spPr>
          <a:xfrm>
            <a:off x="4809744" y="2423160"/>
            <a:ext cx="1572768" cy="365760"/>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недообучение, переобучение, дефект данных или кода</a:t>
            </a:r>
            <a:endParaRPr lang="en-US" sz="900" dirty="0"/>
          </a:p>
        </p:txBody>
      </p:sp>
      <p:sp>
        <p:nvSpPr>
          <p:cNvPr id="18" name="Shape 16"/>
          <p:cNvSpPr/>
          <p:nvPr/>
        </p:nvSpPr>
        <p:spPr>
          <a:xfrm>
            <a:off x="6684264" y="1143000"/>
            <a:ext cx="1938528" cy="1783080"/>
          </a:xfrm>
          <a:prstGeom prst="rect">
            <a:avLst/>
          </a:prstGeom>
          <a:solidFill>
            <a:srgbClr val="FFFFFF"/>
          </a:solidFill>
          <a:ln w="9525">
            <a:solidFill>
              <a:srgbClr val="E1E3E5"/>
            </a:solidFill>
            <a:prstDash val="solid"/>
          </a:ln>
        </p:spPr>
      </p:sp>
      <p:sp>
        <p:nvSpPr>
          <p:cNvPr id="19" name="Text 17"/>
          <p:cNvSpPr txBox="1"/>
          <p:nvPr/>
        </p:nvSpPr>
        <p:spPr>
          <a:xfrm>
            <a:off x="6885432" y="1325880"/>
            <a:ext cx="1572768"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ШАГ 4</a:t>
            </a:r>
            <a:endParaRPr lang="en-US" sz="700" dirty="0"/>
          </a:p>
        </p:txBody>
      </p:sp>
      <p:sp>
        <p:nvSpPr>
          <p:cNvPr id="20" name="Text 18"/>
          <p:cNvSpPr txBox="1"/>
          <p:nvPr/>
        </p:nvSpPr>
        <p:spPr>
          <a:xfrm>
            <a:off x="6885432" y="1645920"/>
            <a:ext cx="1572768" cy="731520"/>
          </a:xfrm>
          <a:prstGeom prst="rect">
            <a:avLst/>
          </a:prstGeom>
          <a:noFill/>
          <a:ln/>
        </p:spPr>
        <p:txBody>
          <a:bodyPr wrap="square" lIns="0" tIns="0" rIns="0" bIns="0" rtlCol="0" anchor="t"/>
          <a:lstStyle/>
          <a:p>
            <a:pPr indent="0" marL="0">
              <a:spcAft>
                <a:spcPts val="300"/>
              </a:spcAft>
              <a:buNone/>
            </a:pPr>
            <a:r>
              <a:rPr lang="en-US" sz="1600" b="1" dirty="0">
                <a:solidFill>
                  <a:srgbClr val="0F1B2D"/>
                </a:solidFill>
                <a:latin typeface="Cambria" pitchFamily="34" charset="0"/>
                <a:ea typeface="Cambria" pitchFamily="34" charset="-122"/>
                <a:cs typeface="Cambria" pitchFamily="34" charset="-120"/>
              </a:rPr>
              <a:t>Изменения</a:t>
            </a:r>
            <a:endParaRPr lang="en-US" sz="1600" dirty="0"/>
          </a:p>
        </p:txBody>
      </p:sp>
      <p:sp>
        <p:nvSpPr>
          <p:cNvPr id="21" name="Text 19"/>
          <p:cNvSpPr txBox="1"/>
          <p:nvPr/>
        </p:nvSpPr>
        <p:spPr>
          <a:xfrm>
            <a:off x="6885432" y="2423160"/>
            <a:ext cx="1572768" cy="36576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 одному: данные, гиперпараметры, модель</a:t>
            </a:r>
            <a:endParaRPr lang="en-US" sz="900" dirty="0"/>
          </a:p>
        </p:txBody>
      </p:sp>
      <p:sp>
        <p:nvSpPr>
          <p:cNvPr id="22" name="Text 20"/>
          <p:cNvSpPr txBox="1"/>
          <p:nvPr/>
        </p:nvSpPr>
        <p:spPr>
          <a:xfrm>
            <a:off x="457200" y="3108960"/>
            <a:ext cx="8229600" cy="457200"/>
          </a:xfrm>
          <a:prstGeom prst="rect">
            <a:avLst/>
          </a:prstGeom>
          <a:noFill/>
          <a:ln/>
        </p:spPr>
        <p:txBody>
          <a:bodyPr wrap="square" lIns="0" tIns="0" rIns="0" bIns="0" rtlCol="0" anchor="t"/>
          <a:lstStyle/>
          <a:p>
            <a:pPr indent="0" marL="0">
              <a:buNone/>
            </a:pPr>
            <a:r>
              <a:rPr lang="en-US" sz="950" i="1" dirty="0">
                <a:solidFill>
                  <a:srgbClr val="686F7B"/>
                </a:solidFill>
                <a:latin typeface="Calibri" pitchFamily="34" charset="0"/>
                <a:ea typeface="Calibri" pitchFamily="34" charset="-122"/>
                <a:cs typeface="Calibri" pitchFamily="34" charset="-120"/>
              </a:rPr>
              <a:t>«На практике успеха обычно добивается тот, кто правильно применяет широко известный алгоритм, а не прибегает к запутанному алгоритму, толком не понимая, как он работает.» Гудфеллоу, с. 355</a:t>
            </a:r>
            <a:endParaRPr lang="en-US" sz="950" dirty="0"/>
          </a:p>
        </p:txBody>
      </p:sp>
      <p:sp>
        <p:nvSpPr>
          <p:cNvPr id="23" name="Shape 21"/>
          <p:cNvSpPr/>
          <p:nvPr/>
        </p:nvSpPr>
        <p:spPr>
          <a:xfrm>
            <a:off x="457200" y="3950208"/>
            <a:ext cx="8229600" cy="621792"/>
          </a:xfrm>
          <a:prstGeom prst="rect">
            <a:avLst/>
          </a:prstGeom>
          <a:solidFill>
            <a:srgbClr val="0F1B2D"/>
          </a:solidFill>
          <a:ln w="9525">
            <a:solidFill>
              <a:srgbClr val="0F1B2D"/>
            </a:solidFill>
            <a:prstDash val="solid"/>
          </a:ln>
        </p:spPr>
      </p:sp>
      <p:sp>
        <p:nvSpPr>
          <p:cNvPr id="24" name="Shape 22"/>
          <p:cNvSpPr/>
          <p:nvPr/>
        </p:nvSpPr>
        <p:spPr>
          <a:xfrm>
            <a:off x="658368" y="4059936"/>
            <a:ext cx="457200" cy="402336"/>
          </a:xfrm>
          <a:prstGeom prst="hexagon">
            <a:avLst/>
          </a:prstGeom>
          <a:solidFill>
            <a:srgbClr val="4C9BFF"/>
          </a:solidFill>
          <a:ln w="6350">
            <a:solidFill>
              <a:srgbClr val="4C9BFF"/>
            </a:solidFill>
            <a:prstDash val="solid"/>
          </a:ln>
        </p:spPr>
      </p:sp>
      <p:sp>
        <p:nvSpPr>
          <p:cNvPr id="25" name="Text 23"/>
          <p:cNvSpPr txBox="1"/>
          <p:nvPr/>
        </p:nvSpPr>
        <p:spPr>
          <a:xfrm>
            <a:off x="658368" y="4059936"/>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6" name="Text 24"/>
          <p:cNvSpPr txBox="1"/>
          <p:nvPr/>
        </p:nvSpPr>
        <p:spPr>
          <a:xfrm>
            <a:off x="1280160" y="3950208"/>
            <a:ext cx="7223760" cy="62179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Главное правило: </a:t>
            </a:r>
            <a:pPr indent="0" marL="0">
              <a:buNone/>
            </a:pPr>
            <a:r>
              <a:rPr lang="en-US" sz="1050" dirty="0">
                <a:solidFill>
                  <a:srgbClr val="C9CDD2"/>
                </a:solidFill>
                <a:latin typeface="Calibri" pitchFamily="34" charset="0"/>
                <a:ea typeface="Calibri" pitchFamily="34" charset="-122"/>
                <a:cs typeface="Calibri" pitchFamily="34" charset="-120"/>
              </a:rPr>
              <a:t>опыты дорогие, поэтому что менять, выбирают по диагнозу, а не наугад, и меняют по одному.</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ШАГ 1 · РАЗДЕЛ 11.1</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Метрика определяет все</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120640" y="429768"/>
            <a:ext cx="3566160" cy="320040"/>
          </a:xfrm>
          <a:prstGeom prst="rect">
            <a:avLst/>
          </a:prstGeom>
          <a:noFill/>
          <a:ln/>
        </p:spPr>
        <p:txBody>
          <a:bodyPr wrap="square" lIns="0" tIns="0" rIns="0" bIns="0" rtlCol="0" anchor="ctr"/>
          <a:lstStyle/>
          <a:p>
            <a:pPr algn="r" indent="0" marL="0">
              <a:buNone/>
            </a:pPr>
            <a:r>
              <a:rPr lang="en-US" sz="1400" b="1" dirty="0">
                <a:solidFill>
                  <a:srgbClr val="0F1B2D"/>
                </a:solidFill>
                <a:latin typeface="Cambria" pitchFamily="34" charset="0"/>
                <a:ea typeface="Cambria" pitchFamily="34" charset="-122"/>
                <a:cs typeface="Cambria" pitchFamily="34" charset="-120"/>
              </a:rPr>
              <a:t>F</a:t>
            </a:r>
            <a:pPr algn="r" indent="0" marL="0">
              <a:buNone/>
            </a:pPr>
            <a:r>
              <a:rPr lang="en-US" sz="1400" b="1" baseline="-40000" dirty="0">
                <a:solidFill>
                  <a:srgbClr val="0F1B2D"/>
                </a:solidFill>
                <a:latin typeface="Cambria" pitchFamily="34" charset="0"/>
                <a:ea typeface="Cambria" pitchFamily="34" charset="-122"/>
                <a:cs typeface="Cambria" pitchFamily="34" charset="-120"/>
              </a:rPr>
              <a:t>1</a:t>
            </a:r>
            <a:pPr algn="r" indent="0" marL="0">
              <a:buNone/>
            </a:pPr>
            <a:r>
              <a:rPr lang="en-US" sz="1400" b="1" dirty="0">
                <a:solidFill>
                  <a:srgbClr val="0F1B2D"/>
                </a:solidFill>
                <a:latin typeface="Cambria" pitchFamily="34" charset="0"/>
                <a:ea typeface="Cambria" pitchFamily="34" charset="-122"/>
                <a:cs typeface="Cambria" pitchFamily="34" charset="-120"/>
              </a:rPr>
              <a:t> = 2PR / (P + R)</a:t>
            </a:r>
            <a:endParaRPr lang="en-US" sz="1400" dirty="0"/>
          </a:p>
        </p:txBody>
      </p:sp>
      <p:sp>
        <p:nvSpPr>
          <p:cNvPr id="7" name="Text 5"/>
          <p:cNvSpPr txBox="1"/>
          <p:nvPr/>
        </p:nvSpPr>
        <p:spPr>
          <a:xfrm>
            <a:off x="5120640" y="777240"/>
            <a:ext cx="3566160" cy="182880"/>
          </a:xfrm>
          <a:prstGeom prst="rect">
            <a:avLst/>
          </a:prstGeom>
          <a:noFill/>
          <a:ln/>
        </p:spPr>
        <p:txBody>
          <a:bodyPr wrap="square" lIns="0" tIns="0" rIns="0" bIns="0" rtlCol="0" anchor="t"/>
          <a:lstStyle/>
          <a:p>
            <a:pPr algn="r" indent="0" marL="0">
              <a:buNone/>
            </a:pPr>
            <a:r>
              <a:rPr lang="en-US" sz="800" dirty="0">
                <a:solidFill>
                  <a:srgbClr val="686F7B"/>
                </a:solidFill>
                <a:latin typeface="Calibri" pitchFamily="34" charset="0"/>
                <a:ea typeface="Calibri" pitchFamily="34" charset="-122"/>
                <a:cs typeface="Calibri" pitchFamily="34" charset="-120"/>
              </a:rPr>
              <a:t>P – точность класса, R – полнота</a:t>
            </a:r>
            <a:endParaRPr lang="en-US" sz="800" dirty="0"/>
          </a:p>
        </p:txBody>
      </p:sp>
      <p:sp>
        <p:nvSpPr>
          <p:cNvPr id="8" name="Shape 6"/>
          <p:cNvSpPr/>
          <p:nvPr/>
        </p:nvSpPr>
        <p:spPr>
          <a:xfrm>
            <a:off x="457200" y="1143000"/>
            <a:ext cx="5120640" cy="2606040"/>
          </a:xfrm>
          <a:prstGeom prst="rect">
            <a:avLst/>
          </a:prstGeom>
          <a:solidFill>
            <a:srgbClr val="EAF2FF"/>
          </a:solidFill>
          <a:ln w="9525">
            <a:solidFill>
              <a:srgbClr val="E1E3E5"/>
            </a:solidFill>
            <a:prstDash val="solid"/>
          </a:ln>
        </p:spPr>
      </p:sp>
      <p:sp>
        <p:nvSpPr>
          <p:cNvPr id="9" name="Text 7"/>
          <p:cNvSpPr txBox="1"/>
          <p:nvPr/>
        </p:nvSpPr>
        <p:spPr>
          <a:xfrm>
            <a:off x="640080" y="128016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10" name="Text 8"/>
          <p:cNvSpPr txBox="1"/>
          <p:nvPr/>
        </p:nvSpPr>
        <p:spPr>
          <a:xfrm>
            <a:off x="1143000" y="1298448"/>
            <a:ext cx="42062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Точность (доля верных)</a:t>
            </a:r>
            <a:endParaRPr lang="en-US" sz="1100" dirty="0"/>
          </a:p>
        </p:txBody>
      </p:sp>
      <p:sp>
        <p:nvSpPr>
          <p:cNvPr id="11" name="Text 9"/>
          <p:cNvSpPr txBox="1"/>
          <p:nvPr/>
        </p:nvSpPr>
        <p:spPr>
          <a:xfrm>
            <a:off x="1143000" y="1591056"/>
            <a:ext cx="42062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обманывает при неравных классах: «всегда здоров» для болезни 1 на миллион дает 99,9999 %</a:t>
            </a:r>
            <a:endParaRPr lang="en-US" sz="900" dirty="0"/>
          </a:p>
        </p:txBody>
      </p:sp>
      <p:sp>
        <p:nvSpPr>
          <p:cNvPr id="12" name="Text 10"/>
          <p:cNvSpPr txBox="1"/>
          <p:nvPr/>
        </p:nvSpPr>
        <p:spPr>
          <a:xfrm>
            <a:off x="640080" y="2075688"/>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3" name="Text 11"/>
          <p:cNvSpPr txBox="1"/>
          <p:nvPr/>
        </p:nvSpPr>
        <p:spPr>
          <a:xfrm>
            <a:off x="1143000" y="2093976"/>
            <a:ext cx="42062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F-мера с макроусреднением</a:t>
            </a:r>
            <a:endParaRPr lang="en-US" sz="1100" dirty="0"/>
          </a:p>
        </p:txBody>
      </p:sp>
      <p:sp>
        <p:nvSpPr>
          <p:cNvPr id="14" name="Text 12"/>
          <p:cNvSpPr txBox="1"/>
          <p:nvPr/>
        </p:nvSpPr>
        <p:spPr>
          <a:xfrm>
            <a:off x="1143000" y="2386584"/>
            <a:ext cx="42062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F-мера каждого класса, затем среднее: редкий класс весит как частый</a:t>
            </a:r>
            <a:endParaRPr lang="en-US" sz="900" dirty="0"/>
          </a:p>
        </p:txBody>
      </p:sp>
      <p:sp>
        <p:nvSpPr>
          <p:cNvPr id="15" name="Text 13"/>
          <p:cNvSpPr txBox="1"/>
          <p:nvPr/>
        </p:nvSpPr>
        <p:spPr>
          <a:xfrm>
            <a:off x="640080" y="2871216"/>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6" name="Text 14"/>
          <p:cNvSpPr txBox="1"/>
          <p:nvPr/>
        </p:nvSpPr>
        <p:spPr>
          <a:xfrm>
            <a:off x="1143000" y="2889504"/>
            <a:ext cx="42062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Полнота опасного класса</a:t>
            </a:r>
            <a:endParaRPr lang="en-US" sz="1100" dirty="0"/>
          </a:p>
        </p:txBody>
      </p:sp>
      <p:sp>
        <p:nvSpPr>
          <p:cNvPr id="17" name="Text 15"/>
          <p:cNvSpPr txBox="1"/>
          <p:nvPr/>
        </p:nvSpPr>
        <p:spPr>
          <a:xfrm>
            <a:off x="1143000" y="3182112"/>
            <a:ext cx="42062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доля найденных «Стоп» среди всех настоящих «Стоп»: пропуск дороже других ошибок</a:t>
            </a:r>
            <a:endParaRPr lang="en-US" sz="900" dirty="0"/>
          </a:p>
        </p:txBody>
      </p:sp>
      <p:sp>
        <p:nvSpPr>
          <p:cNvPr id="18" name="Shape 16"/>
          <p:cNvSpPr/>
          <p:nvPr/>
        </p:nvSpPr>
        <p:spPr>
          <a:xfrm>
            <a:off x="5852160" y="1143000"/>
            <a:ext cx="2834640" cy="2606040"/>
          </a:xfrm>
          <a:prstGeom prst="rect">
            <a:avLst/>
          </a:prstGeom>
          <a:solidFill>
            <a:srgbClr val="0F1B2D"/>
          </a:solidFill>
          <a:ln w="9525">
            <a:solidFill>
              <a:srgbClr val="0F1B2D"/>
            </a:solidFill>
            <a:prstDash val="solid"/>
          </a:ln>
        </p:spPr>
      </p:sp>
      <p:sp>
        <p:nvSpPr>
          <p:cNvPr id="19" name="Text 17"/>
          <p:cNvSpPr txBox="1"/>
          <p:nvPr/>
        </p:nvSpPr>
        <p:spPr>
          <a:xfrm>
            <a:off x="6035040" y="1252728"/>
            <a:ext cx="2560320" cy="411480"/>
          </a:xfrm>
          <a:prstGeom prst="rect">
            <a:avLst/>
          </a:prstGeom>
          <a:noFill/>
          <a:ln/>
        </p:spPr>
        <p:txBody>
          <a:bodyPr wrap="square" lIns="0" tIns="0" rIns="0" bIns="0" rtlCol="0" anchor="t"/>
          <a:lstStyle/>
          <a:p>
            <a:pPr indent="0" marL="0">
              <a:buNone/>
            </a:pPr>
            <a:r>
              <a:rPr lang="en-US" sz="2000" b="1" dirty="0">
                <a:solidFill>
                  <a:srgbClr val="4C9BFF"/>
                </a:solidFill>
                <a:latin typeface="Cambria" pitchFamily="34" charset="0"/>
                <a:ea typeface="Cambria" pitchFamily="34" charset="-122"/>
                <a:cs typeface="Cambria" pitchFamily="34" charset="-120"/>
              </a:rPr>
              <a:t>98 %</a:t>
            </a:r>
            <a:endParaRPr lang="en-US" sz="2000" dirty="0"/>
          </a:p>
        </p:txBody>
      </p:sp>
      <p:sp>
        <p:nvSpPr>
          <p:cNvPr id="20" name="Text 18"/>
          <p:cNvSpPr txBox="1"/>
          <p:nvPr/>
        </p:nvSpPr>
        <p:spPr>
          <a:xfrm>
            <a:off x="6035040" y="1691640"/>
            <a:ext cx="2560320" cy="1984248"/>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Street View: номера домов распознаются так же верно, как человеком; неуверенные снимки отдаются людям. Оптимизировали покрытие – долю снимков с ответом; в итоге больше 95 %.</a:t>
            </a:r>
            <a:endParaRPr lang="en-US" sz="900" dirty="0"/>
          </a:p>
        </p:txBody>
      </p:sp>
      <p:sp>
        <p:nvSpPr>
          <p:cNvPr id="21" name="Shape 19"/>
          <p:cNvSpPr/>
          <p:nvPr/>
        </p:nvSpPr>
        <p:spPr>
          <a:xfrm>
            <a:off x="457200" y="3977640"/>
            <a:ext cx="8229600" cy="594360"/>
          </a:xfrm>
          <a:prstGeom prst="rect">
            <a:avLst/>
          </a:prstGeom>
          <a:solidFill>
            <a:srgbClr val="0F1B2D"/>
          </a:solidFill>
          <a:ln w="9525">
            <a:solidFill>
              <a:srgbClr val="0F1B2D"/>
            </a:solidFill>
            <a:prstDash val="solid"/>
          </a:ln>
        </p:spPr>
      </p:sp>
      <p:sp>
        <p:nvSpPr>
          <p:cNvPr id="22" name="Shape 20"/>
          <p:cNvSpPr/>
          <p:nvPr/>
        </p:nvSpPr>
        <p:spPr>
          <a:xfrm>
            <a:off x="658368" y="4073652"/>
            <a:ext cx="457200" cy="402336"/>
          </a:xfrm>
          <a:prstGeom prst="hexagon">
            <a:avLst/>
          </a:prstGeom>
          <a:solidFill>
            <a:srgbClr val="4C9BFF"/>
          </a:solidFill>
          <a:ln w="6350">
            <a:solidFill>
              <a:srgbClr val="4C9BFF"/>
            </a:solidFill>
            <a:prstDash val="solid"/>
          </a:ln>
        </p:spPr>
      </p:sp>
      <p:sp>
        <p:nvSpPr>
          <p:cNvPr id="23" name="Text 21"/>
          <p:cNvSpPr txBox="1"/>
          <p:nvPr/>
        </p:nvSpPr>
        <p:spPr>
          <a:xfrm>
            <a:off x="658368" y="407365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1</a:t>
            </a:r>
            <a:endParaRPr lang="en-US" sz="900" dirty="0"/>
          </a:p>
        </p:txBody>
      </p:sp>
      <p:sp>
        <p:nvSpPr>
          <p:cNvPr id="24" name="Text 22"/>
          <p:cNvSpPr txBox="1"/>
          <p:nvPr/>
        </p:nvSpPr>
        <p:spPr>
          <a:xfrm>
            <a:off x="1280160" y="3977640"/>
            <a:ext cx="7223760" cy="5943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Целевое значение задает задача, </a:t>
            </a:r>
            <a:pPr indent="0" marL="0">
              <a:buNone/>
            </a:pPr>
            <a:r>
              <a:rPr lang="en-US" sz="1050" dirty="0">
                <a:solidFill>
                  <a:srgbClr val="C9CDD2"/>
                </a:solidFill>
                <a:latin typeface="Calibri" pitchFamily="34" charset="0"/>
                <a:ea typeface="Calibri" pitchFamily="34" charset="-122"/>
                <a:cs typeface="Calibri" pitchFamily="34" charset="-120"/>
              </a:rPr>
              <a:t>а не модель: безопасность, стоимость, удобство. Без цели не понять, помогло ли изменение.</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ШАГ 2 · РАЗДЕЛ 11.2</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Базовая модель – как можно раньше</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6</a:t>
            </a:r>
            <a:endParaRPr lang="en-US" sz="900" dirty="0"/>
          </a:p>
        </p:txBody>
      </p:sp>
      <p:sp>
        <p:nvSpPr>
          <p:cNvPr id="6" name="Text 4"/>
          <p:cNvSpPr txBox="1"/>
          <p:nvPr/>
        </p:nvSpPr>
        <p:spPr>
          <a:xfrm>
            <a:off x="45720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7" name="Text 5"/>
          <p:cNvSpPr txBox="1"/>
          <p:nvPr/>
        </p:nvSpPr>
        <p:spPr>
          <a:xfrm>
            <a:off x="960120" y="1161288"/>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Картинки</a:t>
            </a:r>
            <a:endParaRPr lang="en-US" sz="1100" dirty="0"/>
          </a:p>
        </p:txBody>
      </p:sp>
      <p:sp>
        <p:nvSpPr>
          <p:cNvPr id="8" name="Text 6"/>
          <p:cNvSpPr txBox="1"/>
          <p:nvPr/>
        </p:nvSpPr>
        <p:spPr>
          <a:xfrm>
            <a:off x="960120" y="1453896"/>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сверточная сеть с ReLU · Б1.3–Б1.4</a:t>
            </a:r>
            <a:endParaRPr lang="en-US" sz="900" dirty="0"/>
          </a:p>
        </p:txBody>
      </p:sp>
      <p:sp>
        <p:nvSpPr>
          <p:cNvPr id="9" name="Text 7"/>
          <p:cNvSpPr txBox="1"/>
          <p:nvPr/>
        </p:nvSpPr>
        <p:spPr>
          <a:xfrm>
            <a:off x="466344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5166360" y="1161288"/>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Последовательности</a:t>
            </a:r>
            <a:endParaRPr lang="en-US" sz="1100" dirty="0"/>
          </a:p>
        </p:txBody>
      </p:sp>
      <p:sp>
        <p:nvSpPr>
          <p:cNvPr id="11" name="Text 9"/>
          <p:cNvSpPr txBox="1"/>
          <p:nvPr/>
        </p:nvSpPr>
        <p:spPr>
          <a:xfrm>
            <a:off x="5166360" y="1453896"/>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LSTM или GRU · Б1.5</a:t>
            </a:r>
            <a:endParaRPr lang="en-US" sz="900" dirty="0"/>
          </a:p>
        </p:txBody>
      </p:sp>
      <p:sp>
        <p:nvSpPr>
          <p:cNvPr id="12" name="Text 10"/>
          <p:cNvSpPr txBox="1"/>
          <p:nvPr/>
        </p:nvSpPr>
        <p:spPr>
          <a:xfrm>
            <a:off x="457200" y="1984248"/>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3" name="Text 11"/>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Оптимизатор</a:t>
            </a:r>
            <a:endParaRPr lang="en-US" sz="1100" dirty="0"/>
          </a:p>
        </p:txBody>
      </p:sp>
      <p:sp>
        <p:nvSpPr>
          <p:cNvPr id="14" name="Text 12"/>
          <p:cNvSpPr txBox="1"/>
          <p:nvPr/>
        </p:nvSpPr>
        <p:spPr>
          <a:xfrm>
            <a:off x="960120" y="2295144"/>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SGD с импульсом и расписанием или Adam · Б2.1</a:t>
            </a:r>
            <a:endParaRPr lang="en-US" sz="900" dirty="0"/>
          </a:p>
        </p:txBody>
      </p:sp>
      <p:sp>
        <p:nvSpPr>
          <p:cNvPr id="15" name="Text 13"/>
          <p:cNvSpPr txBox="1"/>
          <p:nvPr/>
        </p:nvSpPr>
        <p:spPr>
          <a:xfrm>
            <a:off x="4663440" y="1984248"/>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04</a:t>
            </a:r>
            <a:endParaRPr lang="en-US" sz="1600" dirty="0"/>
          </a:p>
        </p:txBody>
      </p:sp>
      <p:sp>
        <p:nvSpPr>
          <p:cNvPr id="16" name="Text 14"/>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Нормализация</a:t>
            </a:r>
            <a:endParaRPr lang="en-US" sz="1100" dirty="0"/>
          </a:p>
        </p:txBody>
      </p:sp>
      <p:sp>
        <p:nvSpPr>
          <p:cNvPr id="17" name="Text 15"/>
          <p:cNvSpPr txBox="1"/>
          <p:nvPr/>
        </p:nvSpPr>
        <p:spPr>
          <a:xfrm>
            <a:off x="5166360" y="2295144"/>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пакетная, особенно в сверточных сетях · Б2.2</a:t>
            </a:r>
            <a:endParaRPr lang="en-US" sz="900" dirty="0"/>
          </a:p>
        </p:txBody>
      </p:sp>
      <p:sp>
        <p:nvSpPr>
          <p:cNvPr id="18" name="Text 16"/>
          <p:cNvSpPr txBox="1"/>
          <p:nvPr/>
        </p:nvSpPr>
        <p:spPr>
          <a:xfrm>
            <a:off x="457200" y="2825496"/>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05</a:t>
            </a:r>
            <a:endParaRPr lang="en-US" sz="1600" dirty="0"/>
          </a:p>
        </p:txBody>
      </p:sp>
      <p:sp>
        <p:nvSpPr>
          <p:cNvPr id="19" name="Text 17"/>
          <p:cNvSpPr txBox="1"/>
          <p:nvPr/>
        </p:nvSpPr>
        <p:spPr>
          <a:xfrm>
            <a:off x="960120" y="2843784"/>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Регуляризация сразу</a:t>
            </a:r>
            <a:endParaRPr lang="en-US" sz="1100" dirty="0"/>
          </a:p>
        </p:txBody>
      </p:sp>
      <p:sp>
        <p:nvSpPr>
          <p:cNvPr id="20" name="Text 18"/>
          <p:cNvSpPr txBox="1"/>
          <p:nvPr/>
        </p:nvSpPr>
        <p:spPr>
          <a:xfrm>
            <a:off x="960120" y="3136392"/>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ранняя остановка почти всегда, прореживание · Б2.3</a:t>
            </a:r>
            <a:endParaRPr lang="en-US" sz="900" dirty="0"/>
          </a:p>
        </p:txBody>
      </p:sp>
      <p:sp>
        <p:nvSpPr>
          <p:cNvPr id="21" name="Text 19"/>
          <p:cNvSpPr txBox="1"/>
          <p:nvPr/>
        </p:nvSpPr>
        <p:spPr>
          <a:xfrm>
            <a:off x="4663440" y="2825496"/>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06</a:t>
            </a:r>
            <a:endParaRPr lang="en-US" sz="1600" dirty="0"/>
          </a:p>
        </p:txBody>
      </p:sp>
      <p:sp>
        <p:nvSpPr>
          <p:cNvPr id="22" name="Text 20"/>
          <p:cNvSpPr txBox="1"/>
          <p:nvPr/>
        </p:nvSpPr>
        <p:spPr>
          <a:xfrm>
            <a:off x="5166360" y="2843784"/>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Похожая задача</a:t>
            </a:r>
            <a:endParaRPr lang="en-US" sz="1100" dirty="0"/>
          </a:p>
        </p:txBody>
      </p:sp>
      <p:sp>
        <p:nvSpPr>
          <p:cNvPr id="23" name="Text 21"/>
          <p:cNvSpPr txBox="1"/>
          <p:nvPr/>
        </p:nvSpPr>
        <p:spPr>
          <a:xfrm>
            <a:off x="5166360" y="3136392"/>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скопировать модель и веса, например с ImageNet · Б2.5</a:t>
            </a:r>
            <a:endParaRPr lang="en-US" sz="900" dirty="0"/>
          </a:p>
        </p:txBody>
      </p:sp>
      <p:sp>
        <p:nvSpPr>
          <p:cNvPr id="24" name="Shape 22"/>
          <p:cNvSpPr/>
          <p:nvPr/>
        </p:nvSpPr>
        <p:spPr>
          <a:xfrm>
            <a:off x="457200" y="3794760"/>
            <a:ext cx="8229600" cy="731520"/>
          </a:xfrm>
          <a:prstGeom prst="rect">
            <a:avLst/>
          </a:prstGeom>
          <a:solidFill>
            <a:srgbClr val="0F1B2D"/>
          </a:solidFill>
          <a:ln w="9525">
            <a:solidFill>
              <a:srgbClr val="0F1B2D"/>
            </a:solidFill>
            <a:prstDash val="solid"/>
          </a:ln>
        </p:spPr>
      </p:sp>
      <p:sp>
        <p:nvSpPr>
          <p:cNvPr id="25" name="Shape 23"/>
          <p:cNvSpPr/>
          <p:nvPr/>
        </p:nvSpPr>
        <p:spPr>
          <a:xfrm>
            <a:off x="658368" y="3959352"/>
            <a:ext cx="457200" cy="402336"/>
          </a:xfrm>
          <a:prstGeom prst="hexagon">
            <a:avLst/>
          </a:prstGeom>
          <a:solidFill>
            <a:srgbClr val="4C9BFF"/>
          </a:solidFill>
          <a:ln w="6350">
            <a:solidFill>
              <a:srgbClr val="4C9BFF"/>
            </a:solidFill>
            <a:prstDash val="solid"/>
          </a:ln>
        </p:spPr>
      </p:sp>
      <p:sp>
        <p:nvSpPr>
          <p:cNvPr id="26" name="Text 24"/>
          <p:cNvSpPr txBox="1"/>
          <p:nvPr/>
        </p:nvSpPr>
        <p:spPr>
          <a:xfrm>
            <a:off x="658368" y="395935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2</a:t>
            </a:r>
            <a:endParaRPr lang="en-US" sz="900" dirty="0"/>
          </a:p>
        </p:txBody>
      </p:sp>
      <p:sp>
        <p:nvSpPr>
          <p:cNvPr id="27" name="Text 25"/>
          <p:cNvSpPr txBox="1"/>
          <p:nvPr/>
        </p:nvSpPr>
        <p:spPr>
          <a:xfrm>
            <a:off x="1280160" y="3794760"/>
            <a:ext cx="7223760" cy="7315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Ориентир: </a:t>
            </a:r>
            <a:pPr indent="0" marL="0">
              <a:buNone/>
            </a:pPr>
            <a:r>
              <a:rPr lang="en-US" sz="1050" dirty="0">
                <a:solidFill>
                  <a:srgbClr val="C9CDD2"/>
                </a:solidFill>
                <a:latin typeface="Calibri" pitchFamily="34" charset="0"/>
                <a:ea typeface="Calibri" pitchFamily="34" charset="-122"/>
                <a:cs typeface="Calibri" pitchFamily="34" charset="-120"/>
              </a:rPr>
              <a:t>модель «всегда самый частый класс». Любая настоящая модель должна быть заметно лучше, иначе ошибка в конвейере.</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ШАГ 3 · ДИАГНОЗ</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Диагноз по двум ошибкам</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7</a:t>
            </a:r>
            <a:endParaRPr lang="en-US" sz="900" dirty="0"/>
          </a:p>
        </p:txBody>
      </p:sp>
      <p:graphicFrame>
        <p:nvGraphicFramePr>
          <p:cNvPr id="6" name="Chart 0" descr=""/>
          <p:cNvGraphicFramePr/>
          <p:nvPr/>
        </p:nvGraphicFramePr>
        <p:xfrm>
          <a:off x="457200" y="1005840"/>
          <a:ext cx="4069080" cy="205740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617720" y="1005840"/>
          <a:ext cx="4069080" cy="205740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914400"/>
        </p:xfrm>
        <a:graphic>
          <a:graphicData uri="http://schemas.openxmlformats.org/drawingml/2006/table">
            <a:tbl>
              <a:tblPr/>
              <a:tblGrid>
                <a:gridCol w="2560320"/>
                <a:gridCol w="1554480"/>
                <a:gridCol w="4114800"/>
              </a:tblGrid>
              <a:tr h="27432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Ошибка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Диагноз</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Что пробовать</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r>
              <a:tr h="274320">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высокая на обучающей</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недообучение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дольше учить, подобрать скорость обучения, модель шире или глубже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низкая на обучающей, высокая на валидации</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переобучение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аугментация, снижение весов, прореживание, больше данных</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r h="274320">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валидация хорошая, тест намного хуже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утечка или сдвиг</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проверить разбиение и происхождение данных</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потери не падают даже на 64 примерах</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ошибка в коде или данных</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метки, нормализация, формы тензоров, скорость</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РАЗДЕЛ 11.3</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Собирать ли еще данные?</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8</a:t>
            </a:r>
            <a:endParaRPr lang="en-US" sz="900" dirty="0"/>
          </a:p>
        </p:txBody>
      </p:sp>
      <p:graphicFrame>
        <p:nvGraphicFramePr>
          <p:cNvPr id="6" name="Chart 0" descr=""/>
          <p:cNvGraphicFramePr/>
          <p:nvPr/>
        </p:nvGraphicFramePr>
        <p:xfrm>
          <a:off x="365760" y="100584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3749040"/>
            <a:ext cx="420624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Схема по рисунку 5.4 Гудфеллоу, не результат опыта</a:t>
            </a:r>
            <a:endParaRPr lang="en-US" sz="800" dirty="0"/>
          </a:p>
        </p:txBody>
      </p:sp>
      <p:sp>
        <p:nvSpPr>
          <p:cNvPr id="8" name="Text 5"/>
          <p:cNvSpPr txBox="1"/>
          <p:nvPr/>
        </p:nvSpPr>
        <p:spPr>
          <a:xfrm>
            <a:off x="493776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9" name="Text 6"/>
          <p:cNvSpPr txBox="1"/>
          <p:nvPr/>
        </p:nvSpPr>
        <p:spPr>
          <a:xfrm>
            <a:off x="5440680" y="1161288"/>
            <a:ext cx="32004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Плохо уже на обучающей</a:t>
            </a:r>
            <a:endParaRPr lang="en-US" sz="1100" dirty="0"/>
          </a:p>
        </p:txBody>
      </p:sp>
      <p:sp>
        <p:nvSpPr>
          <p:cNvPr id="10" name="Text 7"/>
          <p:cNvSpPr txBox="1"/>
          <p:nvPr/>
        </p:nvSpPr>
        <p:spPr>
          <a:xfrm>
            <a:off x="5440680" y="1453896"/>
            <a:ext cx="32004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новые данные не помогут: больше модель, настроить обучение, проверить данные</a:t>
            </a:r>
            <a:endParaRPr lang="en-US" sz="900" dirty="0"/>
          </a:p>
        </p:txBody>
      </p:sp>
      <p:sp>
        <p:nvSpPr>
          <p:cNvPr id="11" name="Text 8"/>
          <p:cNvSpPr txBox="1"/>
          <p:nvPr/>
        </p:nvSpPr>
        <p:spPr>
          <a:xfrm>
            <a:off x="4937760" y="196596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2" name="Text 9"/>
          <p:cNvSpPr txBox="1"/>
          <p:nvPr/>
        </p:nvSpPr>
        <p:spPr>
          <a:xfrm>
            <a:off x="5440680" y="1984248"/>
            <a:ext cx="32004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Плохо только на валидации</a:t>
            </a:r>
            <a:endParaRPr lang="en-US" sz="1100" dirty="0"/>
          </a:p>
        </p:txBody>
      </p:sp>
      <p:sp>
        <p:nvSpPr>
          <p:cNvPr id="13" name="Text 10"/>
          <p:cNvSpPr txBox="1"/>
          <p:nvPr/>
        </p:nvSpPr>
        <p:spPr>
          <a:xfrm>
            <a:off x="5440680" y="2276856"/>
            <a:ext cx="32004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данные – одно из лучших средств; дешевая замена – регуляризация</a:t>
            </a:r>
            <a:endParaRPr lang="en-US" sz="900" dirty="0"/>
          </a:p>
        </p:txBody>
      </p:sp>
      <p:sp>
        <p:nvSpPr>
          <p:cNvPr id="14" name="Text 11"/>
          <p:cNvSpPr txBox="1"/>
          <p:nvPr/>
        </p:nvSpPr>
        <p:spPr>
          <a:xfrm>
            <a:off x="4937760" y="278892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5" name="Text 12"/>
          <p:cNvSpPr txBox="1"/>
          <p:nvPr/>
        </p:nvSpPr>
        <p:spPr>
          <a:xfrm>
            <a:off x="5440680" y="2807208"/>
            <a:ext cx="32004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Сколько нужно?</a:t>
            </a:r>
            <a:endParaRPr lang="en-US" sz="1100" dirty="0"/>
          </a:p>
        </p:txBody>
      </p:sp>
      <p:sp>
        <p:nvSpPr>
          <p:cNvPr id="16" name="Text 13"/>
          <p:cNvSpPr txBox="1"/>
          <p:nvPr/>
        </p:nvSpPr>
        <p:spPr>
          <a:xfrm>
            <a:off x="5440680" y="3099816"/>
            <a:ext cx="32004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кривая обучения; размер удваивать, +10 % почти ничего не меняют</a:t>
            </a:r>
            <a:endParaRPr lang="en-US" sz="900" dirty="0"/>
          </a:p>
        </p:txBody>
      </p:sp>
      <p:sp>
        <p:nvSpPr>
          <p:cNvPr id="17" name="Shape 14"/>
          <p:cNvSpPr/>
          <p:nvPr/>
        </p:nvSpPr>
        <p:spPr>
          <a:xfrm>
            <a:off x="457200" y="4069080"/>
            <a:ext cx="8229600" cy="548640"/>
          </a:xfrm>
          <a:prstGeom prst="rect">
            <a:avLst/>
          </a:prstGeom>
          <a:solidFill>
            <a:srgbClr val="0F1B2D"/>
          </a:solidFill>
          <a:ln w="9525">
            <a:solidFill>
              <a:srgbClr val="0F1B2D"/>
            </a:solidFill>
            <a:prstDash val="solid"/>
          </a:ln>
        </p:spPr>
      </p:sp>
      <p:sp>
        <p:nvSpPr>
          <p:cNvPr id="18" name="Shape 15"/>
          <p:cNvSpPr/>
          <p:nvPr/>
        </p:nvSpPr>
        <p:spPr>
          <a:xfrm>
            <a:off x="658368" y="4142232"/>
            <a:ext cx="457200" cy="402336"/>
          </a:xfrm>
          <a:prstGeom prst="hexagon">
            <a:avLst/>
          </a:prstGeom>
          <a:solidFill>
            <a:srgbClr val="4C9BFF"/>
          </a:solidFill>
          <a:ln w="6350">
            <a:solidFill>
              <a:srgbClr val="4C9BFF"/>
            </a:solidFill>
            <a:prstDash val="solid"/>
          </a:ln>
        </p:spPr>
      </p:sp>
      <p:sp>
        <p:nvSpPr>
          <p:cNvPr id="19" name="Text 16"/>
          <p:cNvSpPr txBox="1"/>
          <p:nvPr/>
        </p:nvSpPr>
        <p:spPr>
          <a:xfrm>
            <a:off x="658368" y="414223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3</a:t>
            </a:r>
            <a:endParaRPr lang="en-US" sz="900" dirty="0"/>
          </a:p>
        </p:txBody>
      </p:sp>
      <p:sp>
        <p:nvSpPr>
          <p:cNvPr id="20" name="Text 17"/>
          <p:cNvSpPr txBox="1"/>
          <p:nvPr/>
        </p:nvSpPr>
        <p:spPr>
          <a:xfrm>
            <a:off x="1280160" y="4069080"/>
            <a:ext cx="722376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В нашей задаче </a:t>
            </a:r>
            <a:pPr indent="0" marL="0">
              <a:buNone/>
            </a:pPr>
            <a:r>
              <a:rPr lang="en-US" sz="1050" dirty="0">
                <a:solidFill>
                  <a:srgbClr val="C9CDD2"/>
                </a:solidFill>
                <a:latin typeface="Calibri" pitchFamily="34" charset="0"/>
                <a:ea typeface="Calibri" pitchFamily="34" charset="-122"/>
                <a:cs typeface="Calibri" pitchFamily="34" charset="-120"/>
              </a:rPr>
              <a:t>данные – это новые проезды, а не новые кадры уже известных проездов.</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work/b26/img/sec2.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4800" b="1" dirty="0">
                <a:solidFill>
                  <a:srgbClr val="4C9BFF"/>
                </a:solidFill>
                <a:latin typeface="Cambria" pitchFamily="34" charset="0"/>
                <a:ea typeface="Cambria" pitchFamily="34" charset="-122"/>
                <a:cs typeface="Cambria" pitchFamily="34" charset="-120"/>
              </a:rPr>
              <a:t>02</a:t>
            </a:r>
            <a:endParaRPr lang="en-US" sz="4800" dirty="0"/>
          </a:p>
        </p:txBody>
      </p:sp>
      <p:sp>
        <p:nvSpPr>
          <p:cNvPr id="4" name="Text 1"/>
          <p:cNvSpPr txBox="1"/>
          <p:nvPr/>
        </p:nvSpPr>
        <p:spPr>
          <a:xfrm>
            <a:off x="548640" y="2103120"/>
            <a:ext cx="3566160" cy="1188720"/>
          </a:xfrm>
          <a:prstGeom prst="rect">
            <a:avLst/>
          </a:prstGeom>
          <a:noFill/>
          <a:ln/>
        </p:spPr>
        <p:txBody>
          <a:bodyPr wrap="square" lIns="0" tIns="0" rIns="0" bIns="0" rtlCol="0" anchor="ctr"/>
          <a:lstStyle/>
          <a:p>
            <a:pPr indent="0" marL="0">
              <a:buNone/>
            </a:pPr>
            <a:r>
              <a:rPr lang="en-US" sz="2200" b="1" dirty="0">
                <a:solidFill>
                  <a:srgbClr val="0F1B2D"/>
                </a:solidFill>
                <a:latin typeface="Cambria" pitchFamily="34" charset="0"/>
                <a:ea typeface="Cambria" pitchFamily="34" charset="-122"/>
                <a:cs typeface="Cambria" pitchFamily="34" charset="-120"/>
              </a:rPr>
              <a:t>Гиперпараметры</a:t>
            </a:r>
            <a:endParaRPr lang="en-US" sz="2200" dirty="0"/>
          </a:p>
        </p:txBody>
      </p:sp>
      <p:sp>
        <p:nvSpPr>
          <p:cNvPr id="5" name="Text 2"/>
          <p:cNvSpPr txBox="1"/>
          <p:nvPr/>
        </p:nvSpPr>
        <p:spPr>
          <a:xfrm>
            <a:off x="548640" y="3429000"/>
            <a:ext cx="3291840" cy="731520"/>
          </a:xfrm>
          <a:prstGeom prst="rect">
            <a:avLst/>
          </a:prstGeom>
          <a:noFill/>
          <a:ln/>
        </p:spPr>
        <p:txBody>
          <a:bodyPr wrap="square" lIns="0" tIns="0" rIns="0" bIns="0" rtlCol="0" anchor="t"/>
          <a:lstStyle/>
          <a:p>
            <a:pPr indent="0" marL="0">
              <a:buNone/>
            </a:pPr>
            <a:r>
              <a:rPr lang="en-US" sz="1000" dirty="0">
                <a:solidFill>
                  <a:srgbClr val="686F7B"/>
                </a:solidFill>
                <a:latin typeface="Calibri" pitchFamily="34" charset="0"/>
                <a:ea typeface="Calibri" pitchFamily="34" charset="-122"/>
                <a:cs typeface="Calibri" pitchFamily="34" charset="-120"/>
              </a:rPr>
              <a:t>Что настраивать первым, как перебирать и как отличить улучшение от случайности</a:t>
            </a:r>
            <a:endParaRPr lang="en-US" sz="10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РАЗДЕЛ 11.4.1</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Скорость обучения – главная</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365760" y="100584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3749040"/>
            <a:ext cx="420624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Схема по рисунку 11.1 Гудфеллоу</a:t>
            </a:r>
            <a:endParaRPr lang="en-US" sz="800" dirty="0"/>
          </a:p>
        </p:txBody>
      </p:sp>
      <p:sp>
        <p:nvSpPr>
          <p:cNvPr id="8" name="Shape 5"/>
          <p:cNvSpPr/>
          <p:nvPr/>
        </p:nvSpPr>
        <p:spPr>
          <a:xfrm>
            <a:off x="4937760" y="1097280"/>
            <a:ext cx="3749040" cy="2697480"/>
          </a:xfrm>
          <a:prstGeom prst="rect">
            <a:avLst/>
          </a:prstGeom>
          <a:solidFill>
            <a:srgbClr val="FFFFFF"/>
          </a:solidFill>
          <a:ln w="9525">
            <a:solidFill>
              <a:srgbClr val="E1E3E5"/>
            </a:solidFill>
            <a:prstDash val="solid"/>
          </a:ln>
        </p:spPr>
      </p:sp>
      <p:sp>
        <p:nvSpPr>
          <p:cNvPr id="9" name="Text 6"/>
          <p:cNvSpPr txBox="1"/>
          <p:nvPr/>
        </p:nvSpPr>
        <p:spPr>
          <a:xfrm>
            <a:off x="5120640" y="1234440"/>
            <a:ext cx="3474720"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КАК ГИПЕРПАРАМЕТР МЕНЯЕТ ЕМКОСТЬ</a:t>
            </a:r>
            <a:endParaRPr lang="en-US" sz="700" dirty="0"/>
          </a:p>
        </p:txBody>
      </p:sp>
      <p:sp>
        <p:nvSpPr>
          <p:cNvPr id="10" name="Text 7"/>
          <p:cNvSpPr txBox="1"/>
          <p:nvPr/>
        </p:nvSpPr>
        <p:spPr>
          <a:xfrm>
            <a:off x="5120640" y="1554480"/>
            <a:ext cx="2103120" cy="36576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больше слоев и каналов</a:t>
            </a:r>
            <a:endParaRPr lang="en-US" sz="1000" dirty="0"/>
          </a:p>
        </p:txBody>
      </p:sp>
      <p:sp>
        <p:nvSpPr>
          <p:cNvPr id="11" name="Text 8"/>
          <p:cNvSpPr txBox="1"/>
          <p:nvPr/>
        </p:nvSpPr>
        <p:spPr>
          <a:xfrm>
            <a:off x="7223760" y="1554480"/>
            <a:ext cx="1371600" cy="365760"/>
          </a:xfrm>
          <a:prstGeom prst="rect">
            <a:avLst/>
          </a:prstGeom>
          <a:noFill/>
          <a:ln/>
        </p:spPr>
        <p:txBody>
          <a:bodyPr wrap="square" lIns="0" tIns="0" rIns="0" bIns="0" rtlCol="0" anchor="ctr"/>
          <a:lstStyle/>
          <a:p>
            <a:pPr indent="0" marL="0">
              <a:buNone/>
            </a:pPr>
            <a:r>
              <a:rPr lang="en-US" sz="1000" b="1" dirty="0">
                <a:solidFill>
                  <a:srgbClr val="1F63C9"/>
                </a:solidFill>
                <a:latin typeface="Calibri" pitchFamily="34" charset="0"/>
                <a:ea typeface="Calibri" pitchFamily="34" charset="-122"/>
                <a:cs typeface="Calibri" pitchFamily="34" charset="-120"/>
              </a:rPr>
              <a:t>растет</a:t>
            </a:r>
            <a:endParaRPr lang="en-US" sz="1000" dirty="0"/>
          </a:p>
        </p:txBody>
      </p:sp>
      <p:sp>
        <p:nvSpPr>
          <p:cNvPr id="12" name="Text 9"/>
          <p:cNvSpPr txBox="1"/>
          <p:nvPr/>
        </p:nvSpPr>
        <p:spPr>
          <a:xfrm>
            <a:off x="5120640" y="1984248"/>
            <a:ext cx="2103120" cy="36576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больше снижение весов</a:t>
            </a:r>
            <a:endParaRPr lang="en-US" sz="1000" dirty="0"/>
          </a:p>
        </p:txBody>
      </p:sp>
      <p:sp>
        <p:nvSpPr>
          <p:cNvPr id="13" name="Text 10"/>
          <p:cNvSpPr txBox="1"/>
          <p:nvPr/>
        </p:nvSpPr>
        <p:spPr>
          <a:xfrm>
            <a:off x="7223760" y="1984248"/>
            <a:ext cx="1371600" cy="365760"/>
          </a:xfrm>
          <a:prstGeom prst="rect">
            <a:avLst/>
          </a:prstGeom>
          <a:noFill/>
          <a:ln/>
        </p:spPr>
        <p:txBody>
          <a:bodyPr wrap="square" lIns="0" tIns="0" rIns="0" bIns="0" rtlCol="0" anchor="ctr"/>
          <a:lstStyle/>
          <a:p>
            <a:pPr indent="0" marL="0">
              <a:buNone/>
            </a:pPr>
            <a:r>
              <a:rPr lang="en-US" sz="1000" b="1" dirty="0">
                <a:solidFill>
                  <a:srgbClr val="686F7B"/>
                </a:solidFill>
                <a:latin typeface="Calibri" pitchFamily="34" charset="0"/>
                <a:ea typeface="Calibri" pitchFamily="34" charset="-122"/>
                <a:cs typeface="Calibri" pitchFamily="34" charset="-120"/>
              </a:rPr>
              <a:t>падает</a:t>
            </a:r>
            <a:endParaRPr lang="en-US" sz="1000" dirty="0"/>
          </a:p>
        </p:txBody>
      </p:sp>
      <p:sp>
        <p:nvSpPr>
          <p:cNvPr id="14" name="Text 11"/>
          <p:cNvSpPr txBox="1"/>
          <p:nvPr/>
        </p:nvSpPr>
        <p:spPr>
          <a:xfrm>
            <a:off x="5120640" y="2414016"/>
            <a:ext cx="2103120" cy="36576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больше доля прореживания</a:t>
            </a:r>
            <a:endParaRPr lang="en-US" sz="1000" dirty="0"/>
          </a:p>
        </p:txBody>
      </p:sp>
      <p:sp>
        <p:nvSpPr>
          <p:cNvPr id="15" name="Text 12"/>
          <p:cNvSpPr txBox="1"/>
          <p:nvPr/>
        </p:nvSpPr>
        <p:spPr>
          <a:xfrm>
            <a:off x="7223760" y="2414016"/>
            <a:ext cx="1371600" cy="365760"/>
          </a:xfrm>
          <a:prstGeom prst="rect">
            <a:avLst/>
          </a:prstGeom>
          <a:noFill/>
          <a:ln/>
        </p:spPr>
        <p:txBody>
          <a:bodyPr wrap="square" lIns="0" tIns="0" rIns="0" bIns="0" rtlCol="0" anchor="ctr"/>
          <a:lstStyle/>
          <a:p>
            <a:pPr indent="0" marL="0">
              <a:buNone/>
            </a:pPr>
            <a:r>
              <a:rPr lang="en-US" sz="1000" b="1" dirty="0">
                <a:solidFill>
                  <a:srgbClr val="686F7B"/>
                </a:solidFill>
                <a:latin typeface="Calibri" pitchFamily="34" charset="0"/>
                <a:ea typeface="Calibri" pitchFamily="34" charset="-122"/>
                <a:cs typeface="Calibri" pitchFamily="34" charset="-120"/>
              </a:rPr>
              <a:t>падает</a:t>
            </a:r>
            <a:endParaRPr lang="en-US" sz="1000" dirty="0"/>
          </a:p>
        </p:txBody>
      </p:sp>
      <p:sp>
        <p:nvSpPr>
          <p:cNvPr id="16" name="Text 13"/>
          <p:cNvSpPr txBox="1"/>
          <p:nvPr/>
        </p:nvSpPr>
        <p:spPr>
          <a:xfrm>
            <a:off x="5120640" y="2843784"/>
            <a:ext cx="2103120" cy="36576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сильнее аугментация</a:t>
            </a:r>
            <a:endParaRPr lang="en-US" sz="1000" dirty="0"/>
          </a:p>
        </p:txBody>
      </p:sp>
      <p:sp>
        <p:nvSpPr>
          <p:cNvPr id="17" name="Text 14"/>
          <p:cNvSpPr txBox="1"/>
          <p:nvPr/>
        </p:nvSpPr>
        <p:spPr>
          <a:xfrm>
            <a:off x="7223760" y="2843784"/>
            <a:ext cx="1371600" cy="365760"/>
          </a:xfrm>
          <a:prstGeom prst="rect">
            <a:avLst/>
          </a:prstGeom>
          <a:noFill/>
          <a:ln/>
        </p:spPr>
        <p:txBody>
          <a:bodyPr wrap="square" lIns="0" tIns="0" rIns="0" bIns="0" rtlCol="0" anchor="ctr"/>
          <a:lstStyle/>
          <a:p>
            <a:pPr indent="0" marL="0">
              <a:buNone/>
            </a:pPr>
            <a:r>
              <a:rPr lang="en-US" sz="1000" b="1" dirty="0">
                <a:solidFill>
                  <a:srgbClr val="686F7B"/>
                </a:solidFill>
                <a:latin typeface="Calibri" pitchFamily="34" charset="0"/>
                <a:ea typeface="Calibri" pitchFamily="34" charset="-122"/>
                <a:cs typeface="Calibri" pitchFamily="34" charset="-120"/>
              </a:rPr>
              <a:t>падает</a:t>
            </a:r>
            <a:endParaRPr lang="en-US" sz="1000" dirty="0"/>
          </a:p>
        </p:txBody>
      </p:sp>
      <p:sp>
        <p:nvSpPr>
          <p:cNvPr id="18" name="Text 15"/>
          <p:cNvSpPr txBox="1"/>
          <p:nvPr/>
        </p:nvSpPr>
        <p:spPr>
          <a:xfrm>
            <a:off x="5120640" y="3273552"/>
            <a:ext cx="2103120" cy="36576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скорость обучения</a:t>
            </a:r>
            <a:endParaRPr lang="en-US" sz="1000" dirty="0"/>
          </a:p>
        </p:txBody>
      </p:sp>
      <p:sp>
        <p:nvSpPr>
          <p:cNvPr id="19" name="Text 16"/>
          <p:cNvSpPr txBox="1"/>
          <p:nvPr/>
        </p:nvSpPr>
        <p:spPr>
          <a:xfrm>
            <a:off x="7223760" y="3273552"/>
            <a:ext cx="1371600" cy="365760"/>
          </a:xfrm>
          <a:prstGeom prst="rect">
            <a:avLst/>
          </a:prstGeom>
          <a:noFill/>
          <a:ln/>
        </p:spPr>
        <p:txBody>
          <a:bodyPr wrap="square" lIns="0" tIns="0" rIns="0" bIns="0" rtlCol="0" anchor="ctr"/>
          <a:lstStyle/>
          <a:p>
            <a:pPr indent="0" marL="0">
              <a:buNone/>
            </a:pPr>
            <a:r>
              <a:rPr lang="en-US" sz="1000" b="1" dirty="0">
                <a:solidFill>
                  <a:srgbClr val="4C9BFF"/>
                </a:solidFill>
                <a:latin typeface="Calibri" pitchFamily="34" charset="0"/>
                <a:ea typeface="Calibri" pitchFamily="34" charset="-122"/>
                <a:cs typeface="Calibri" pitchFamily="34" charset="-120"/>
              </a:rPr>
              <a:t>наибольшая при удачной</a:t>
            </a:r>
            <a:endParaRPr lang="en-US" sz="1000" dirty="0"/>
          </a:p>
        </p:txBody>
      </p:sp>
      <p:sp>
        <p:nvSpPr>
          <p:cNvPr id="20" name="Shape 17"/>
          <p:cNvSpPr/>
          <p:nvPr/>
        </p:nvSpPr>
        <p:spPr>
          <a:xfrm>
            <a:off x="457200" y="4069080"/>
            <a:ext cx="8229600" cy="548640"/>
          </a:xfrm>
          <a:prstGeom prst="rect">
            <a:avLst/>
          </a:prstGeom>
          <a:solidFill>
            <a:srgbClr val="0F1B2D"/>
          </a:solidFill>
          <a:ln w="9525">
            <a:solidFill>
              <a:srgbClr val="0F1B2D"/>
            </a:solidFill>
            <a:prstDash val="solid"/>
          </a:ln>
        </p:spPr>
      </p:sp>
      <p:sp>
        <p:nvSpPr>
          <p:cNvPr id="21" name="Shape 18"/>
          <p:cNvSpPr/>
          <p:nvPr/>
        </p:nvSpPr>
        <p:spPr>
          <a:xfrm>
            <a:off x="658368" y="4142232"/>
            <a:ext cx="457200" cy="402336"/>
          </a:xfrm>
          <a:prstGeom prst="hexagon">
            <a:avLst/>
          </a:prstGeom>
          <a:solidFill>
            <a:srgbClr val="4C9BFF"/>
          </a:solidFill>
          <a:ln w="6350">
            <a:solidFill>
              <a:srgbClr val="4C9BFF"/>
            </a:solidFill>
            <a:prstDash val="solid"/>
          </a:ln>
        </p:spPr>
      </p:sp>
      <p:sp>
        <p:nvSpPr>
          <p:cNvPr id="22" name="Text 19"/>
          <p:cNvSpPr txBox="1"/>
          <p:nvPr/>
        </p:nvSpPr>
        <p:spPr>
          <a:xfrm>
            <a:off x="658368" y="414223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3" name="Text 20"/>
          <p:cNvSpPr txBox="1"/>
          <p:nvPr/>
        </p:nvSpPr>
        <p:spPr>
          <a:xfrm>
            <a:off x="1280160" y="4069080"/>
            <a:ext cx="722376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Гудфеллоу: </a:t>
            </a:r>
            <a:pPr indent="0" marL="0">
              <a:buNone/>
            </a:pPr>
            <a:r>
              <a:rPr lang="en-US" sz="1050" dirty="0">
                <a:solidFill>
                  <a:srgbClr val="C9CDD2"/>
                </a:solidFill>
                <a:latin typeface="Calibri" pitchFamily="34" charset="0"/>
                <a:ea typeface="Calibri" pitchFamily="34" charset="-122"/>
                <a:cs typeface="Calibri" pitchFamily="34" charset="-120"/>
              </a:rPr>
              <a:t>если есть время настроить только один гиперпараметр, настройте скорость обучения.</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РАЗДЕЛЫ 11.4.3–11.4.4</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Сетка или случайный поиск</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5120640" y="429768"/>
            <a:ext cx="3566160" cy="320040"/>
          </a:xfrm>
          <a:prstGeom prst="rect">
            <a:avLst/>
          </a:prstGeom>
          <a:noFill/>
          <a:ln/>
        </p:spPr>
        <p:txBody>
          <a:bodyPr wrap="square" lIns="0" tIns="0" rIns="0" bIns="0" rtlCol="0" anchor="ctr"/>
          <a:lstStyle/>
          <a:p>
            <a:pPr algn="r" indent="0" marL="0">
              <a:buNone/>
            </a:pPr>
            <a:r>
              <a:rPr lang="en-US" sz="1400" b="1" dirty="0">
                <a:solidFill>
                  <a:srgbClr val="0F1B2D"/>
                </a:solidFill>
                <a:latin typeface="Cambria" pitchFamily="34" charset="0"/>
                <a:ea typeface="Cambria" pitchFamily="34" charset="-122"/>
                <a:cs typeface="Cambria" pitchFamily="34" charset="-120"/>
              </a:rPr>
              <a:t>lr = 10</a:t>
            </a:r>
            <a:pPr algn="r" indent="0" marL="0">
              <a:buNone/>
            </a:pPr>
            <a:r>
              <a:rPr lang="en-US" sz="1400" b="1" baseline="30000" dirty="0">
                <a:solidFill>
                  <a:srgbClr val="0F1B2D"/>
                </a:solidFill>
                <a:latin typeface="Cambria" pitchFamily="34" charset="0"/>
                <a:ea typeface="Cambria" pitchFamily="34" charset="-122"/>
                <a:cs typeface="Cambria" pitchFamily="34" charset="-120"/>
              </a:rPr>
              <a:t>u</a:t>
            </a:r>
            <a:pPr algn="r" indent="0" marL="0">
              <a:buNone/>
            </a:pPr>
            <a:r>
              <a:rPr lang="en-US" sz="1400" b="1" dirty="0">
                <a:solidFill>
                  <a:srgbClr val="0F1B2D"/>
                </a:solidFill>
                <a:latin typeface="Cambria" pitchFamily="34" charset="0"/>
                <a:ea typeface="Cambria" pitchFamily="34" charset="-122"/>
                <a:cs typeface="Cambria" pitchFamily="34" charset="-120"/>
              </a:rPr>
              <a:t>,  u ~ U(−3,5; −2,3)</a:t>
            </a:r>
            <a:endParaRPr lang="en-US" sz="1400" dirty="0"/>
          </a:p>
        </p:txBody>
      </p:sp>
      <p:sp>
        <p:nvSpPr>
          <p:cNvPr id="7" name="Text 5"/>
          <p:cNvSpPr txBox="1"/>
          <p:nvPr/>
        </p:nvSpPr>
        <p:spPr>
          <a:xfrm>
            <a:off x="5120640" y="777240"/>
            <a:ext cx="3566160" cy="182880"/>
          </a:xfrm>
          <a:prstGeom prst="rect">
            <a:avLst/>
          </a:prstGeom>
          <a:noFill/>
          <a:ln/>
        </p:spPr>
        <p:txBody>
          <a:bodyPr wrap="square" lIns="0" tIns="0" rIns="0" bIns="0" rtlCol="0" anchor="t"/>
          <a:lstStyle/>
          <a:p>
            <a:pPr algn="r" indent="0" marL="0">
              <a:buNone/>
            </a:pPr>
            <a:r>
              <a:rPr lang="en-US" sz="800" dirty="0">
                <a:solidFill>
                  <a:srgbClr val="686F7B"/>
                </a:solidFill>
                <a:latin typeface="Calibri" pitchFamily="34" charset="0"/>
                <a:ea typeface="Calibri" pitchFamily="34" charset="-122"/>
                <a:cs typeface="Calibri" pitchFamily="34" charset="-120"/>
              </a:rPr>
              <a:t>логарифмически равномерно, как в итоговой работе</a:t>
            </a:r>
            <a:endParaRPr lang="en-US" sz="800" dirty="0"/>
          </a:p>
        </p:txBody>
      </p:sp>
      <p:pic>
        <p:nvPicPr>
          <p:cNvPr id="8" name="Image 0" descr="/home/claude/work/b26/img/search.png">    </p:cNvPr>
          <p:cNvPicPr>
            <a:picLocks noChangeAspect="1"/>
          </p:cNvPicPr>
          <p:nvPr/>
        </p:nvPicPr>
        <p:blipFill>
          <a:blip r:embed="rId1"/>
          <a:stretch>
            <a:fillRect/>
          </a:stretch>
        </p:blipFill>
        <p:spPr>
          <a:xfrm>
            <a:off x="457200" y="1097280"/>
            <a:ext cx="5120640" cy="2346960"/>
          </a:xfrm>
          <a:prstGeom prst="rect">
            <a:avLst/>
          </a:prstGeom>
        </p:spPr>
      </p:pic>
      <p:sp>
        <p:nvSpPr>
          <p:cNvPr id="9" name="Text 6"/>
          <p:cNvSpPr txBox="1"/>
          <p:nvPr/>
        </p:nvSpPr>
        <p:spPr>
          <a:xfrm>
            <a:off x="457200" y="3502152"/>
            <a:ext cx="512064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По рисунку 11.2 Гудфеллоу (Бергстра и Бенжио, 2012)</a:t>
            </a:r>
            <a:endParaRPr lang="en-US" sz="800" dirty="0"/>
          </a:p>
        </p:txBody>
      </p:sp>
      <p:sp>
        <p:nvSpPr>
          <p:cNvPr id="10" name="Text 7"/>
          <p:cNvSpPr txBox="1"/>
          <p:nvPr/>
        </p:nvSpPr>
        <p:spPr>
          <a:xfrm>
            <a:off x="585216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11" name="Text 8"/>
          <p:cNvSpPr txBox="1"/>
          <p:nvPr/>
        </p:nvSpPr>
        <p:spPr>
          <a:xfrm>
            <a:off x="6355080" y="1161288"/>
            <a:ext cx="23774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Сетка</a:t>
            </a:r>
            <a:endParaRPr lang="en-US" sz="1100" dirty="0"/>
          </a:p>
        </p:txBody>
      </p:sp>
      <p:sp>
        <p:nvSpPr>
          <p:cNvPr id="12" name="Text 9"/>
          <p:cNvSpPr txBox="1"/>
          <p:nvPr/>
        </p:nvSpPr>
        <p:spPr>
          <a:xfrm>
            <a:off x="6355080" y="1453896"/>
            <a:ext cx="23774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n в степени m обучений; важный гиперпараметр получает лишь n значений</a:t>
            </a:r>
            <a:endParaRPr lang="en-US" sz="900" dirty="0"/>
          </a:p>
        </p:txBody>
      </p:sp>
      <p:sp>
        <p:nvSpPr>
          <p:cNvPr id="13" name="Text 10"/>
          <p:cNvSpPr txBox="1"/>
          <p:nvPr/>
        </p:nvSpPr>
        <p:spPr>
          <a:xfrm>
            <a:off x="5852160" y="192024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4" name="Text 11"/>
          <p:cNvSpPr txBox="1"/>
          <p:nvPr/>
        </p:nvSpPr>
        <p:spPr>
          <a:xfrm>
            <a:off x="6355080" y="1938528"/>
            <a:ext cx="23774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Случайный поиск</a:t>
            </a:r>
            <a:endParaRPr lang="en-US" sz="1100" dirty="0"/>
          </a:p>
        </p:txBody>
      </p:sp>
      <p:sp>
        <p:nvSpPr>
          <p:cNvPr id="15" name="Text 12"/>
          <p:cNvSpPr txBox="1"/>
          <p:nvPr/>
        </p:nvSpPr>
        <p:spPr>
          <a:xfrm>
            <a:off x="6355080" y="2231136"/>
            <a:ext cx="23774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за те же 9 опытов – 9 разных значений важного</a:t>
            </a:r>
            <a:endParaRPr lang="en-US" sz="900" dirty="0"/>
          </a:p>
        </p:txBody>
      </p:sp>
      <p:sp>
        <p:nvSpPr>
          <p:cNvPr id="16" name="Text 13"/>
          <p:cNvSpPr txBox="1"/>
          <p:nvPr/>
        </p:nvSpPr>
        <p:spPr>
          <a:xfrm>
            <a:off x="5852160" y="26974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7" name="Text 14"/>
          <p:cNvSpPr txBox="1"/>
          <p:nvPr/>
        </p:nvSpPr>
        <p:spPr>
          <a:xfrm>
            <a:off x="6355080" y="2715768"/>
            <a:ext cx="23774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Логарифмическая шкала</a:t>
            </a:r>
            <a:endParaRPr lang="en-US" sz="1100" dirty="0"/>
          </a:p>
        </p:txBody>
      </p:sp>
      <p:sp>
        <p:nvSpPr>
          <p:cNvPr id="18" name="Text 15"/>
          <p:cNvSpPr txBox="1"/>
          <p:nvPr/>
        </p:nvSpPr>
        <p:spPr>
          <a:xfrm>
            <a:off x="6355080" y="3008376"/>
            <a:ext cx="23774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для скорости обучения и снижения весов</a:t>
            </a:r>
            <a:endParaRPr lang="en-US" sz="900" dirty="0"/>
          </a:p>
        </p:txBody>
      </p:sp>
      <p:sp>
        <p:nvSpPr>
          <p:cNvPr id="19" name="Shape 16"/>
          <p:cNvSpPr/>
          <p:nvPr/>
        </p:nvSpPr>
        <p:spPr>
          <a:xfrm>
            <a:off x="457200" y="3977640"/>
            <a:ext cx="8229600" cy="594360"/>
          </a:xfrm>
          <a:prstGeom prst="rect">
            <a:avLst/>
          </a:prstGeom>
          <a:solidFill>
            <a:srgbClr val="0F1B2D"/>
          </a:solidFill>
          <a:ln w="9525">
            <a:solidFill>
              <a:srgbClr val="0F1B2D"/>
            </a:solidFill>
            <a:prstDash val="solid"/>
          </a:ln>
        </p:spPr>
      </p:sp>
      <p:sp>
        <p:nvSpPr>
          <p:cNvPr id="20" name="Shape 17"/>
          <p:cNvSpPr/>
          <p:nvPr/>
        </p:nvSpPr>
        <p:spPr>
          <a:xfrm>
            <a:off x="658368" y="4073652"/>
            <a:ext cx="457200" cy="402336"/>
          </a:xfrm>
          <a:prstGeom prst="hexagon">
            <a:avLst/>
          </a:prstGeom>
          <a:solidFill>
            <a:srgbClr val="4C9BFF"/>
          </a:solidFill>
          <a:ln w="6350">
            <a:solidFill>
              <a:srgbClr val="4C9BFF"/>
            </a:solidFill>
            <a:prstDash val="solid"/>
          </a:ln>
        </p:spPr>
      </p:sp>
      <p:sp>
        <p:nvSpPr>
          <p:cNvPr id="21" name="Text 18"/>
          <p:cNvSpPr txBox="1"/>
          <p:nvPr/>
        </p:nvSpPr>
        <p:spPr>
          <a:xfrm>
            <a:off x="658368" y="407365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2" name="Text 19"/>
          <p:cNvSpPr txBox="1"/>
          <p:nvPr/>
        </p:nvSpPr>
        <p:spPr>
          <a:xfrm>
            <a:off x="1280160" y="3977640"/>
            <a:ext cx="7223760" cy="5943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В итоговой работе: </a:t>
            </a:r>
            <a:pPr indent="0" marL="0">
              <a:buNone/>
            </a:pPr>
            <a:r>
              <a:rPr lang="en-US" sz="1050" dirty="0">
                <a:solidFill>
                  <a:srgbClr val="C9CDD2"/>
                </a:solidFill>
                <a:latin typeface="Calibri" pitchFamily="34" charset="0"/>
                <a:ea typeface="Calibri" pitchFamily="34" charset="-122"/>
                <a:cs typeface="Calibri" pitchFamily="34" charset="-120"/>
              </a:rPr>
              <a:t>3 случайных сочетания скорости, снижения весов, прореживания и ширины сети – в бюджете 8 обучений.</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ЧЕСТНОЕ СРАВНЕНИЕ</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Разница меньше шума – не разница</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143000"/>
            <a:ext cx="2651760" cy="1371600"/>
          </a:xfrm>
          <a:prstGeom prst="rect">
            <a:avLst/>
          </a:prstGeom>
          <a:solidFill>
            <a:srgbClr val="FFFFFF"/>
          </a:solidFill>
          <a:ln w="9525">
            <a:solidFill>
              <a:srgbClr val="E1E3E5"/>
            </a:solidFill>
            <a:prstDash val="solid"/>
          </a:ln>
        </p:spPr>
      </p:sp>
      <p:sp>
        <p:nvSpPr>
          <p:cNvPr id="7" name="Text 5"/>
          <p:cNvSpPr txBox="1"/>
          <p:nvPr/>
        </p:nvSpPr>
        <p:spPr>
          <a:xfrm>
            <a:off x="640080" y="1252728"/>
            <a:ext cx="2377440" cy="411480"/>
          </a:xfrm>
          <a:prstGeom prst="rect">
            <a:avLst/>
          </a:prstGeom>
          <a:noFill/>
          <a:ln/>
        </p:spPr>
        <p:txBody>
          <a:bodyPr wrap="square" lIns="0" tIns="0" rIns="0" bIns="0" rtlCol="0" anchor="t"/>
          <a:lstStyle/>
          <a:p>
            <a:pPr indent="0" marL="0">
              <a:buNone/>
            </a:pPr>
            <a:r>
              <a:rPr lang="en-US" sz="2000" b="1" dirty="0">
                <a:solidFill>
                  <a:srgbClr val="0F1B2D"/>
                </a:solidFill>
                <a:latin typeface="Cambria" pitchFamily="34" charset="0"/>
                <a:ea typeface="Cambria" pitchFamily="34" charset="-122"/>
                <a:cs typeface="Cambria" pitchFamily="34" charset="-120"/>
              </a:rPr>
              <a:t>0,01</a:t>
            </a:r>
            <a:endParaRPr lang="en-US" sz="2000" dirty="0"/>
          </a:p>
        </p:txBody>
      </p:sp>
      <p:sp>
        <p:nvSpPr>
          <p:cNvPr id="8" name="Text 6"/>
          <p:cNvSpPr txBox="1"/>
          <p:nvPr/>
        </p:nvSpPr>
        <p:spPr>
          <a:xfrm>
            <a:off x="640080" y="1691640"/>
            <a:ext cx="2377440" cy="749808"/>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разница F-меры между опытами A и B</a:t>
            </a:r>
            <a:endParaRPr lang="en-US" sz="900" dirty="0"/>
          </a:p>
        </p:txBody>
      </p:sp>
      <p:sp>
        <p:nvSpPr>
          <p:cNvPr id="9" name="Shape 7"/>
          <p:cNvSpPr/>
          <p:nvPr/>
        </p:nvSpPr>
        <p:spPr>
          <a:xfrm>
            <a:off x="3246120" y="1143000"/>
            <a:ext cx="2651760" cy="1371600"/>
          </a:xfrm>
          <a:prstGeom prst="rect">
            <a:avLst/>
          </a:prstGeom>
          <a:solidFill>
            <a:srgbClr val="0F1B2D"/>
          </a:solidFill>
          <a:ln w="9525">
            <a:solidFill>
              <a:srgbClr val="0F1B2D"/>
            </a:solidFill>
            <a:prstDash val="solid"/>
          </a:ln>
        </p:spPr>
      </p:sp>
      <p:sp>
        <p:nvSpPr>
          <p:cNvPr id="10" name="Text 8"/>
          <p:cNvSpPr txBox="1"/>
          <p:nvPr/>
        </p:nvSpPr>
        <p:spPr>
          <a:xfrm>
            <a:off x="3429000" y="1252728"/>
            <a:ext cx="2377440" cy="411480"/>
          </a:xfrm>
          <a:prstGeom prst="rect">
            <a:avLst/>
          </a:prstGeom>
          <a:noFill/>
          <a:ln/>
        </p:spPr>
        <p:txBody>
          <a:bodyPr wrap="square" lIns="0" tIns="0" rIns="0" bIns="0" rtlCol="0" anchor="t"/>
          <a:lstStyle/>
          <a:p>
            <a:pPr indent="0" marL="0">
              <a:buNone/>
            </a:pPr>
            <a:r>
              <a:rPr lang="en-US" sz="2000" b="1" dirty="0">
                <a:solidFill>
                  <a:srgbClr val="4C9BFF"/>
                </a:solidFill>
                <a:latin typeface="Cambria" pitchFamily="34" charset="0"/>
                <a:ea typeface="Cambria" pitchFamily="34" charset="-122"/>
                <a:cs typeface="Cambria" pitchFamily="34" charset="-120"/>
              </a:rPr>
              <a:t>0,03</a:t>
            </a:r>
            <a:endParaRPr lang="en-US" sz="2000" dirty="0"/>
          </a:p>
        </p:txBody>
      </p:sp>
      <p:sp>
        <p:nvSpPr>
          <p:cNvPr id="11" name="Text 9"/>
          <p:cNvSpPr txBox="1"/>
          <p:nvPr/>
        </p:nvSpPr>
        <p:spPr>
          <a:xfrm>
            <a:off x="3429000" y="1691640"/>
            <a:ext cx="2377440" cy="749808"/>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изменение того же опыта A при другом зерне</a:t>
            </a:r>
            <a:endParaRPr lang="en-US" sz="900" dirty="0"/>
          </a:p>
        </p:txBody>
      </p:sp>
      <p:sp>
        <p:nvSpPr>
          <p:cNvPr id="12" name="Shape 10"/>
          <p:cNvSpPr/>
          <p:nvPr/>
        </p:nvSpPr>
        <p:spPr>
          <a:xfrm>
            <a:off x="6035040" y="1143000"/>
            <a:ext cx="2651760" cy="1371600"/>
          </a:xfrm>
          <a:prstGeom prst="rect">
            <a:avLst/>
          </a:prstGeom>
          <a:solidFill>
            <a:srgbClr val="EAF2FF"/>
          </a:solidFill>
          <a:ln w="9525">
            <a:solidFill>
              <a:srgbClr val="E1E3E5"/>
            </a:solidFill>
            <a:prstDash val="solid"/>
          </a:ln>
        </p:spPr>
      </p:sp>
      <p:sp>
        <p:nvSpPr>
          <p:cNvPr id="13" name="Text 11"/>
          <p:cNvSpPr txBox="1"/>
          <p:nvPr/>
        </p:nvSpPr>
        <p:spPr>
          <a:xfrm>
            <a:off x="6217920" y="1252728"/>
            <a:ext cx="2377440" cy="411480"/>
          </a:xfrm>
          <a:prstGeom prst="rect">
            <a:avLst/>
          </a:prstGeom>
          <a:noFill/>
          <a:ln/>
        </p:spPr>
        <p:txBody>
          <a:bodyPr wrap="square" lIns="0" tIns="0" rIns="0" bIns="0" rtlCol="0" anchor="t"/>
          <a:lstStyle/>
          <a:p>
            <a:pPr indent="0" marL="0">
              <a:buNone/>
            </a:pPr>
            <a:r>
              <a:rPr lang="en-US" sz="2000" b="1" dirty="0">
                <a:solidFill>
                  <a:srgbClr val="0F1B2D"/>
                </a:solidFill>
                <a:latin typeface="Cambria" pitchFamily="34" charset="0"/>
                <a:ea typeface="Cambria" pitchFamily="34" charset="-122"/>
                <a:cs typeface="Cambria" pitchFamily="34" charset="-120"/>
              </a:rPr>
              <a:t>≈ 45</a:t>
            </a:r>
            <a:endParaRPr lang="en-US" sz="2000" dirty="0"/>
          </a:p>
        </p:txBody>
      </p:sp>
      <p:sp>
        <p:nvSpPr>
          <p:cNvPr id="14" name="Text 12"/>
          <p:cNvSpPr txBox="1"/>
          <p:nvPr/>
        </p:nvSpPr>
        <p:spPr>
          <a:xfrm>
            <a:off x="6217920" y="1691640"/>
            <a:ext cx="2377440" cy="749808"/>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проездов в валидации: ошибка на одном проезде – это 0,02–0,03</a:t>
            </a:r>
            <a:endParaRPr lang="en-US" sz="900" dirty="0"/>
          </a:p>
        </p:txBody>
      </p:sp>
      <p:sp>
        <p:nvSpPr>
          <p:cNvPr id="15" name="Text 13"/>
          <p:cNvSpPr txBox="1"/>
          <p:nvPr/>
        </p:nvSpPr>
        <p:spPr>
          <a:xfrm>
            <a:off x="457200" y="2606040"/>
            <a:ext cx="822960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Пример: числа условные, у каждого варианта свои</a:t>
            </a:r>
            <a:endParaRPr lang="en-US" sz="800" dirty="0"/>
          </a:p>
        </p:txBody>
      </p:sp>
      <p:sp>
        <p:nvSpPr>
          <p:cNvPr id="16" name="Text 14"/>
          <p:cNvSpPr txBox="1"/>
          <p:nvPr/>
        </p:nvSpPr>
        <p:spPr>
          <a:xfrm>
            <a:off x="457200" y="29260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17" name="Text 15"/>
          <p:cNvSpPr txBox="1"/>
          <p:nvPr/>
        </p:nvSpPr>
        <p:spPr>
          <a:xfrm>
            <a:off x="960120" y="2944368"/>
            <a:ext cx="356616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Источники случайности</a:t>
            </a:r>
            <a:endParaRPr lang="en-US" sz="1100" dirty="0"/>
          </a:p>
        </p:txBody>
      </p:sp>
      <p:sp>
        <p:nvSpPr>
          <p:cNvPr id="18" name="Text 16"/>
          <p:cNvSpPr txBox="1"/>
          <p:nvPr/>
        </p:nvSpPr>
        <p:spPr>
          <a:xfrm>
            <a:off x="960120" y="3236976"/>
            <a:ext cx="356616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начальные веса, порядок пакетов, аугментация, маленькая валидация</a:t>
            </a:r>
            <a:endParaRPr lang="en-US" sz="900" dirty="0"/>
          </a:p>
        </p:txBody>
      </p:sp>
      <p:sp>
        <p:nvSpPr>
          <p:cNvPr id="19" name="Text 17"/>
          <p:cNvSpPr txBox="1"/>
          <p:nvPr/>
        </p:nvSpPr>
        <p:spPr>
          <a:xfrm>
            <a:off x="4663440" y="29260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20" name="Text 18"/>
          <p:cNvSpPr txBox="1"/>
          <p:nvPr/>
        </p:nvSpPr>
        <p:spPr>
          <a:xfrm>
            <a:off x="5166360" y="2944368"/>
            <a:ext cx="356616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Как проверить</a:t>
            </a:r>
            <a:endParaRPr lang="en-US" sz="1100" dirty="0"/>
          </a:p>
        </p:txBody>
      </p:sp>
      <p:sp>
        <p:nvSpPr>
          <p:cNvPr id="21" name="Text 19"/>
          <p:cNvSpPr txBox="1"/>
          <p:nvPr/>
        </p:nvSpPr>
        <p:spPr>
          <a:xfrm>
            <a:off x="5166360" y="3236976"/>
            <a:ext cx="356616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повторить лучший опыт с другим зерном и сравнить разницу с разбросом</a:t>
            </a:r>
            <a:endParaRPr lang="en-US" sz="900" dirty="0"/>
          </a:p>
        </p:txBody>
      </p:sp>
      <p:sp>
        <p:nvSpPr>
          <p:cNvPr id="22" name="Text 20"/>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000" dirty="0">
                <a:solidFill>
                  <a:srgbClr val="1F63C9"/>
                </a:solidFill>
                <a:latin typeface="Calibri" pitchFamily="34" charset="0"/>
                <a:ea typeface="Calibri" pitchFamily="34" charset="-122"/>
                <a:cs typeface="Calibri" pitchFamily="34" charset="-120"/>
              </a:rPr>
              <a:t>То же, что разброс по блокам кросс-валидации в 9 классе: вывод «A лучше B» делаем, только если разница заметно больше разброса.</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work/b26/img/sec3.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4800" b="1" dirty="0">
                <a:solidFill>
                  <a:srgbClr val="4C9BFF"/>
                </a:solidFill>
                <a:latin typeface="Cambria" pitchFamily="34" charset="0"/>
                <a:ea typeface="Cambria" pitchFamily="34" charset="-122"/>
                <a:cs typeface="Cambria" pitchFamily="34" charset="-120"/>
              </a:rPr>
              <a:t>03</a:t>
            </a:r>
            <a:endParaRPr lang="en-US" sz="4800" dirty="0"/>
          </a:p>
        </p:txBody>
      </p:sp>
      <p:sp>
        <p:nvSpPr>
          <p:cNvPr id="4" name="Text 1"/>
          <p:cNvSpPr txBox="1"/>
          <p:nvPr/>
        </p:nvSpPr>
        <p:spPr>
          <a:xfrm>
            <a:off x="548640" y="2103120"/>
            <a:ext cx="3566160" cy="1188720"/>
          </a:xfrm>
          <a:prstGeom prst="rect">
            <a:avLst/>
          </a:prstGeom>
          <a:noFill/>
          <a:ln/>
        </p:spPr>
        <p:txBody>
          <a:bodyPr wrap="square" lIns="0" tIns="0" rIns="0" bIns="0" rtlCol="0" anchor="ctr"/>
          <a:lstStyle/>
          <a:p>
            <a:pPr indent="0" marL="0">
              <a:buNone/>
            </a:pPr>
            <a:r>
              <a:rPr lang="en-US" sz="2200" b="1" dirty="0">
                <a:solidFill>
                  <a:srgbClr val="0F1B2D"/>
                </a:solidFill>
                <a:latin typeface="Cambria" pitchFamily="34" charset="0"/>
                <a:ea typeface="Cambria" pitchFamily="34" charset="-122"/>
                <a:cs typeface="Cambria" pitchFamily="34" charset="-120"/>
              </a:rPr>
              <a:t>Отладка</a:t>
            </a:r>
            <a:endParaRPr lang="en-US" sz="2200" dirty="0"/>
          </a:p>
        </p:txBody>
      </p:sp>
      <p:sp>
        <p:nvSpPr>
          <p:cNvPr id="5" name="Text 2"/>
          <p:cNvSpPr txBox="1"/>
          <p:nvPr/>
        </p:nvSpPr>
        <p:spPr>
          <a:xfrm>
            <a:off x="548640" y="3429000"/>
            <a:ext cx="3291840" cy="731520"/>
          </a:xfrm>
          <a:prstGeom prst="rect">
            <a:avLst/>
          </a:prstGeom>
          <a:noFill/>
          <a:ln/>
        </p:spPr>
        <p:txBody>
          <a:bodyPr wrap="square" lIns="0" tIns="0" rIns="0" bIns="0" rtlCol="0" anchor="t"/>
          <a:lstStyle/>
          <a:p>
            <a:pPr indent="0" marL="0">
              <a:buNone/>
            </a:pPr>
            <a:r>
              <a:rPr lang="en-US" sz="1000" dirty="0">
                <a:solidFill>
                  <a:srgbClr val="686F7B"/>
                </a:solidFill>
                <a:latin typeface="Calibri" pitchFamily="34" charset="0"/>
                <a:ea typeface="Calibri" pitchFamily="34" charset="-122"/>
                <a:cs typeface="Calibri" pitchFamily="34" charset="-120"/>
              </a:rPr>
              <a:t>Как понять, что плохо работает модель, а не программа или данные</a:t>
            </a:r>
            <a:endParaRPr lang="en-US" sz="10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РАЗДЕЛ 11.5</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Шесть приемов отладки</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5120640" y="429768"/>
            <a:ext cx="3566160" cy="320040"/>
          </a:xfrm>
          <a:prstGeom prst="rect">
            <a:avLst/>
          </a:prstGeom>
          <a:noFill/>
          <a:ln/>
        </p:spPr>
        <p:txBody>
          <a:bodyPr wrap="square" lIns="0" tIns="0" rIns="0" bIns="0" rtlCol="0" anchor="ctr"/>
          <a:lstStyle/>
          <a:p>
            <a:pPr algn="r" indent="0" marL="0">
              <a:buNone/>
            </a:pPr>
            <a:r>
              <a:rPr lang="en-US" sz="1400" b="1" dirty="0">
                <a:solidFill>
                  <a:srgbClr val="0F1B2D"/>
                </a:solidFill>
                <a:latin typeface="Cambria" pitchFamily="34" charset="0"/>
                <a:ea typeface="Cambria" pitchFamily="34" charset="-122"/>
                <a:cs typeface="Cambria" pitchFamily="34" charset="-120"/>
              </a:rPr>
              <a:t>L</a:t>
            </a:r>
            <a:pPr algn="r" indent="0" marL="0">
              <a:buNone/>
            </a:pPr>
            <a:r>
              <a:rPr lang="en-US" sz="1400" b="1" baseline="-40000" dirty="0">
                <a:solidFill>
                  <a:srgbClr val="0F1B2D"/>
                </a:solidFill>
                <a:latin typeface="Cambria" pitchFamily="34" charset="0"/>
                <a:ea typeface="Cambria" pitchFamily="34" charset="-122"/>
                <a:cs typeface="Cambria" pitchFamily="34" charset="-120"/>
              </a:rPr>
              <a:t>0</a:t>
            </a:r>
            <a:pPr algn="r" indent="0" marL="0">
              <a:buNone/>
            </a:pPr>
            <a:r>
              <a:rPr lang="en-US" sz="1400" b="1" dirty="0">
                <a:solidFill>
                  <a:srgbClr val="0F1B2D"/>
                </a:solidFill>
                <a:latin typeface="Cambria" pitchFamily="34" charset="0"/>
                <a:ea typeface="Cambria" pitchFamily="34" charset="-122"/>
                <a:cs typeface="Cambria" pitchFamily="34" charset="-120"/>
              </a:rPr>
              <a:t> ≈ ln K = ln 8 ≈ 2,08</a:t>
            </a:r>
            <a:endParaRPr lang="en-US" sz="1400" dirty="0"/>
          </a:p>
        </p:txBody>
      </p:sp>
      <p:sp>
        <p:nvSpPr>
          <p:cNvPr id="7" name="Text 5"/>
          <p:cNvSpPr txBox="1"/>
          <p:nvPr/>
        </p:nvSpPr>
        <p:spPr>
          <a:xfrm>
            <a:off x="5120640" y="777240"/>
            <a:ext cx="3566160" cy="182880"/>
          </a:xfrm>
          <a:prstGeom prst="rect">
            <a:avLst/>
          </a:prstGeom>
          <a:noFill/>
          <a:ln/>
        </p:spPr>
        <p:txBody>
          <a:bodyPr wrap="square" lIns="0" tIns="0" rIns="0" bIns="0" rtlCol="0" anchor="t"/>
          <a:lstStyle/>
          <a:p>
            <a:pPr algn="r" indent="0" marL="0">
              <a:buNone/>
            </a:pPr>
            <a:r>
              <a:rPr lang="en-US" sz="800" dirty="0">
                <a:solidFill>
                  <a:srgbClr val="686F7B"/>
                </a:solidFill>
                <a:latin typeface="Calibri" pitchFamily="34" charset="0"/>
                <a:ea typeface="Calibri" pitchFamily="34" charset="-122"/>
                <a:cs typeface="Calibri" pitchFamily="34" charset="-120"/>
              </a:rPr>
              <a:t>начальные потери случайной сети на K классах</a:t>
            </a:r>
            <a:endParaRPr lang="en-US" sz="800" dirty="0"/>
          </a:p>
        </p:txBody>
      </p:sp>
      <p:sp>
        <p:nvSpPr>
          <p:cNvPr id="8" name="Text 6"/>
          <p:cNvSpPr txBox="1"/>
          <p:nvPr/>
        </p:nvSpPr>
        <p:spPr>
          <a:xfrm>
            <a:off x="45720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9" name="Text 7"/>
          <p:cNvSpPr txBox="1"/>
          <p:nvPr/>
        </p:nvSpPr>
        <p:spPr>
          <a:xfrm>
            <a:off x="960120" y="1161288"/>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Смотреть глазами</a:t>
            </a:r>
            <a:endParaRPr lang="en-US" sz="1100" dirty="0"/>
          </a:p>
        </p:txBody>
      </p:sp>
      <p:sp>
        <p:nvSpPr>
          <p:cNvPr id="10" name="Text 8"/>
          <p:cNvSpPr txBox="1"/>
          <p:nvPr/>
        </p:nvSpPr>
        <p:spPr>
          <a:xfrm>
            <a:off x="960120" y="1453896"/>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кадры с ответами модели, а не только числа</a:t>
            </a:r>
            <a:endParaRPr lang="en-US" sz="900" dirty="0"/>
          </a:p>
        </p:txBody>
      </p:sp>
      <p:sp>
        <p:nvSpPr>
          <p:cNvPr id="11" name="Text 9"/>
          <p:cNvSpPr txBox="1"/>
          <p:nvPr/>
        </p:nvSpPr>
        <p:spPr>
          <a:xfrm>
            <a:off x="466344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2" name="Text 10"/>
          <p:cNvSpPr txBox="1"/>
          <p:nvPr/>
        </p:nvSpPr>
        <p:spPr>
          <a:xfrm>
            <a:off x="5166360" y="1161288"/>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Худшие ошибки</a:t>
            </a:r>
            <a:endParaRPr lang="en-US" sz="1100" dirty="0"/>
          </a:p>
        </p:txBody>
      </p:sp>
      <p:sp>
        <p:nvSpPr>
          <p:cNvPr id="13" name="Text 11"/>
          <p:cNvSpPr txBox="1"/>
          <p:nvPr/>
        </p:nvSpPr>
        <p:spPr>
          <a:xfrm>
            <a:off x="5166360" y="1453896"/>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самые уверенные промахи: в Street View так нашли обрезку цифр</a:t>
            </a:r>
            <a:endParaRPr lang="en-US" sz="900" dirty="0"/>
          </a:p>
        </p:txBody>
      </p:sp>
      <p:sp>
        <p:nvSpPr>
          <p:cNvPr id="14" name="Text 12"/>
          <p:cNvSpPr txBox="1"/>
          <p:nvPr/>
        </p:nvSpPr>
        <p:spPr>
          <a:xfrm>
            <a:off x="457200" y="1984248"/>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5" name="Text 13"/>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Две ошибки</a:t>
            </a:r>
            <a:endParaRPr lang="en-US" sz="1100" dirty="0"/>
          </a:p>
        </p:txBody>
      </p:sp>
      <p:sp>
        <p:nvSpPr>
          <p:cNvPr id="16" name="Text 14"/>
          <p:cNvSpPr txBox="1"/>
          <p:nvPr/>
        </p:nvSpPr>
        <p:spPr>
          <a:xfrm>
            <a:off x="960120" y="2295144"/>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обучение против валидации и теста (слайд 7)</a:t>
            </a:r>
            <a:endParaRPr lang="en-US" sz="900" dirty="0"/>
          </a:p>
        </p:txBody>
      </p:sp>
      <p:sp>
        <p:nvSpPr>
          <p:cNvPr id="17" name="Text 15"/>
          <p:cNvSpPr txBox="1"/>
          <p:nvPr/>
        </p:nvSpPr>
        <p:spPr>
          <a:xfrm>
            <a:off x="4663440" y="1984248"/>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04</a:t>
            </a:r>
            <a:endParaRPr lang="en-US" sz="1600" dirty="0"/>
          </a:p>
        </p:txBody>
      </p:sp>
      <p:sp>
        <p:nvSpPr>
          <p:cNvPr id="18" name="Text 16"/>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Крошечный набор</a:t>
            </a:r>
            <a:endParaRPr lang="en-US" sz="1100" dirty="0"/>
          </a:p>
        </p:txBody>
      </p:sp>
      <p:sp>
        <p:nvSpPr>
          <p:cNvPr id="19" name="Text 17"/>
          <p:cNvSpPr txBox="1"/>
          <p:nvPr/>
        </p:nvSpPr>
        <p:spPr>
          <a:xfrm>
            <a:off x="5166360" y="2295144"/>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64 примера сеть обязана запомнить; не может – ищите ошибку</a:t>
            </a:r>
            <a:endParaRPr lang="en-US" sz="900" dirty="0"/>
          </a:p>
        </p:txBody>
      </p:sp>
      <p:sp>
        <p:nvSpPr>
          <p:cNvPr id="20" name="Text 18"/>
          <p:cNvSpPr txBox="1"/>
          <p:nvPr/>
        </p:nvSpPr>
        <p:spPr>
          <a:xfrm>
            <a:off x="457200" y="2825496"/>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05</a:t>
            </a:r>
            <a:endParaRPr lang="en-US" sz="1600" dirty="0"/>
          </a:p>
        </p:txBody>
      </p:sp>
      <p:sp>
        <p:nvSpPr>
          <p:cNvPr id="21" name="Text 19"/>
          <p:cNvSpPr txBox="1"/>
          <p:nvPr/>
        </p:nvSpPr>
        <p:spPr>
          <a:xfrm>
            <a:off x="960120" y="2843784"/>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Сверка градиентов</a:t>
            </a:r>
            <a:endParaRPr lang="en-US" sz="1100" dirty="0"/>
          </a:p>
        </p:txBody>
      </p:sp>
      <p:sp>
        <p:nvSpPr>
          <p:cNvPr id="22" name="Text 20"/>
          <p:cNvSpPr txBox="1"/>
          <p:nvPr/>
        </p:nvSpPr>
        <p:spPr>
          <a:xfrm>
            <a:off x="960120" y="3136392"/>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с конечными разностями, как в Б1.2</a:t>
            </a:r>
            <a:endParaRPr lang="en-US" sz="900" dirty="0"/>
          </a:p>
        </p:txBody>
      </p:sp>
      <p:sp>
        <p:nvSpPr>
          <p:cNvPr id="23" name="Text 21"/>
          <p:cNvSpPr txBox="1"/>
          <p:nvPr/>
        </p:nvSpPr>
        <p:spPr>
          <a:xfrm>
            <a:off x="4663440" y="2825496"/>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06</a:t>
            </a:r>
            <a:endParaRPr lang="en-US" sz="1600" dirty="0"/>
          </a:p>
        </p:txBody>
      </p:sp>
      <p:sp>
        <p:nvSpPr>
          <p:cNvPr id="24" name="Text 22"/>
          <p:cNvSpPr txBox="1"/>
          <p:nvPr/>
        </p:nvSpPr>
        <p:spPr>
          <a:xfrm>
            <a:off x="5166360" y="2843784"/>
            <a:ext cx="34747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Гистограммы</a:t>
            </a:r>
            <a:endParaRPr lang="en-US" sz="1100" dirty="0"/>
          </a:p>
        </p:txBody>
      </p:sp>
      <p:sp>
        <p:nvSpPr>
          <p:cNvPr id="25" name="Text 23"/>
          <p:cNvSpPr txBox="1"/>
          <p:nvPr/>
        </p:nvSpPr>
        <p:spPr>
          <a:xfrm>
            <a:off x="5166360" y="3136392"/>
            <a:ext cx="34747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активаций и градиентов по слоям, как в Б2.2</a:t>
            </a:r>
            <a:endParaRPr lang="en-US" sz="900" dirty="0"/>
          </a:p>
        </p:txBody>
      </p:sp>
      <p:sp>
        <p:nvSpPr>
          <p:cNvPr id="26" name="Shape 24"/>
          <p:cNvSpPr/>
          <p:nvPr/>
        </p:nvSpPr>
        <p:spPr>
          <a:xfrm>
            <a:off x="457200" y="3794760"/>
            <a:ext cx="8229600" cy="731520"/>
          </a:xfrm>
          <a:prstGeom prst="rect">
            <a:avLst/>
          </a:prstGeom>
          <a:solidFill>
            <a:srgbClr val="0F1B2D"/>
          </a:solidFill>
          <a:ln w="9525">
            <a:solidFill>
              <a:srgbClr val="0F1B2D"/>
            </a:solidFill>
            <a:prstDash val="solid"/>
          </a:ln>
        </p:spPr>
      </p:sp>
      <p:sp>
        <p:nvSpPr>
          <p:cNvPr id="27" name="Shape 25"/>
          <p:cNvSpPr/>
          <p:nvPr/>
        </p:nvSpPr>
        <p:spPr>
          <a:xfrm>
            <a:off x="658368" y="3959352"/>
            <a:ext cx="457200" cy="402336"/>
          </a:xfrm>
          <a:prstGeom prst="hexagon">
            <a:avLst/>
          </a:prstGeom>
          <a:solidFill>
            <a:srgbClr val="4C9BFF"/>
          </a:solidFill>
          <a:ln w="6350">
            <a:solidFill>
              <a:srgbClr val="4C9BFF"/>
            </a:solidFill>
            <a:prstDash val="solid"/>
          </a:ln>
        </p:spPr>
      </p:sp>
      <p:sp>
        <p:nvSpPr>
          <p:cNvPr id="28" name="Text 26"/>
          <p:cNvSpPr txBox="1"/>
          <p:nvPr/>
        </p:nvSpPr>
        <p:spPr>
          <a:xfrm>
            <a:off x="658368" y="395935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9" name="Text 27"/>
          <p:cNvSpPr txBox="1"/>
          <p:nvPr/>
        </p:nvSpPr>
        <p:spPr>
          <a:xfrm>
            <a:off x="1280160" y="3794760"/>
            <a:ext cx="7223760" cy="7315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Почему отладка трудна: </a:t>
            </a:r>
            <a:pPr indent="0" marL="0">
              <a:buNone/>
            </a:pPr>
            <a:r>
              <a:rPr lang="en-US" sz="1050" dirty="0">
                <a:solidFill>
                  <a:srgbClr val="C9CDD2"/>
                </a:solidFill>
                <a:latin typeface="Calibri" pitchFamily="34" charset="0"/>
                <a:ea typeface="Calibri" pitchFamily="34" charset="-122"/>
                <a:cs typeface="Calibri" pitchFamily="34" charset="-120"/>
              </a:rPr>
              <a:t>правильное качество заранее неизвестно, а части сети подстраиваются друг под друга и маскируют ошибку. Нужны проверки, где ответ известен заранее.</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РАЗБИЕНИЕ</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Утечка через похожие примеры</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15</a:t>
            </a:r>
            <a:endParaRPr lang="en-US" sz="900" dirty="0"/>
          </a:p>
        </p:txBody>
      </p:sp>
      <p:pic>
        <p:nvPicPr>
          <p:cNvPr id="6" name="Image 0" descr="/home/claude/work/b26/img/track.png">    </p:cNvPr>
          <p:cNvPicPr>
            <a:picLocks noChangeAspect="1"/>
          </p:cNvPicPr>
          <p:nvPr/>
        </p:nvPicPr>
        <p:blipFill>
          <a:blip r:embed="rId1"/>
          <a:stretch>
            <a:fillRect/>
          </a:stretch>
        </p:blipFill>
        <p:spPr>
          <a:xfrm>
            <a:off x="457200" y="1097280"/>
            <a:ext cx="8229600" cy="1028700"/>
          </a:xfrm>
          <a:prstGeom prst="rect">
            <a:avLst/>
          </a:prstGeom>
        </p:spPr>
      </p:pic>
      <p:sp>
        <p:nvSpPr>
          <p:cNvPr id="7" name="Text 4"/>
          <p:cNvSpPr txBox="1"/>
          <p:nvPr/>
        </p:nvSpPr>
        <p:spPr>
          <a:xfrm>
            <a:off x="457200" y="2176272"/>
            <a:ext cx="822960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Кадры одного проезда: знак растет, фон и освещение почти не меняются</a:t>
            </a:r>
            <a:endParaRPr lang="en-US" sz="800" dirty="0"/>
          </a:p>
        </p:txBody>
      </p:sp>
      <p:sp>
        <p:nvSpPr>
          <p:cNvPr id="8" name="Shape 5"/>
          <p:cNvSpPr/>
          <p:nvPr/>
        </p:nvSpPr>
        <p:spPr>
          <a:xfrm>
            <a:off x="457200" y="2514600"/>
            <a:ext cx="4023360" cy="1325880"/>
          </a:xfrm>
          <a:prstGeom prst="rect">
            <a:avLst/>
          </a:prstGeom>
          <a:solidFill>
            <a:srgbClr val="EAF2FF"/>
          </a:solidFill>
          <a:ln w="9525">
            <a:solidFill>
              <a:srgbClr val="E1E3E5"/>
            </a:solidFill>
            <a:prstDash val="solid"/>
          </a:ln>
        </p:spPr>
      </p:sp>
      <p:sp>
        <p:nvSpPr>
          <p:cNvPr id="9" name="Text 6"/>
          <p:cNvSpPr txBox="1"/>
          <p:nvPr/>
        </p:nvSpPr>
        <p:spPr>
          <a:xfrm>
            <a:off x="640080" y="2633472"/>
            <a:ext cx="3657600"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ГДЕ ВСТРЕЧАЕТСЯ</a:t>
            </a:r>
            <a:endParaRPr lang="en-US" sz="700" dirty="0"/>
          </a:p>
        </p:txBody>
      </p:sp>
      <p:sp>
        <p:nvSpPr>
          <p:cNvPr id="10" name="Text 7"/>
          <p:cNvSpPr txBox="1"/>
          <p:nvPr/>
        </p:nvSpPr>
        <p:spPr>
          <a:xfrm>
            <a:off x="640080" y="2880360"/>
            <a:ext cx="3749040" cy="91440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0F1B2D"/>
                </a:solidFill>
                <a:latin typeface="Calibri" pitchFamily="34" charset="0"/>
                <a:ea typeface="Calibri" pitchFamily="34" charset="-122"/>
                <a:cs typeface="Calibri" pitchFamily="34" charset="-120"/>
              </a:rPr>
              <a:t>кадры одного проезда или видео</a:t>
            </a:r>
            <a:endParaRPr lang="en-US" sz="1000" dirty="0"/>
          </a:p>
          <a:p>
            <a:pPr marL="342900" indent="-342900">
              <a:spcAft>
                <a:spcPts val="200"/>
              </a:spcAft>
              <a:buSzPct val="100000"/>
              <a:buChar char="•"/>
            </a:pPr>
            <a:r>
              <a:rPr lang="en-US" sz="1000" dirty="0">
                <a:solidFill>
                  <a:srgbClr val="0F1B2D"/>
                </a:solidFill>
                <a:latin typeface="Calibri" pitchFamily="34" charset="0"/>
                <a:ea typeface="Calibri" pitchFamily="34" charset="-122"/>
                <a:cs typeface="Calibri" pitchFamily="34" charset="-120"/>
              </a:rPr>
              <a:t>снимки одного пациента, записи одного диктора</a:t>
            </a:r>
            <a:endParaRPr lang="en-US" sz="1000" dirty="0"/>
          </a:p>
          <a:p>
            <a:pPr marL="342900" indent="-342900">
              <a:spcAft>
                <a:spcPts val="200"/>
              </a:spcAft>
              <a:buSzPct val="100000"/>
              <a:buChar char="•"/>
            </a:pPr>
            <a:r>
              <a:rPr lang="en-US" sz="1000" dirty="0">
                <a:solidFill>
                  <a:srgbClr val="0F1B2D"/>
                </a:solidFill>
                <a:latin typeface="Calibri" pitchFamily="34" charset="0"/>
                <a:ea typeface="Calibri" pitchFamily="34" charset="-122"/>
                <a:cs typeface="Calibri" pitchFamily="34" charset="-120"/>
              </a:rPr>
              <a:t>участки одного маршрута, одна поездка</a:t>
            </a:r>
            <a:endParaRPr lang="en-US" sz="1000" dirty="0"/>
          </a:p>
        </p:txBody>
      </p:sp>
      <p:sp>
        <p:nvSpPr>
          <p:cNvPr id="11" name="Shape 8"/>
          <p:cNvSpPr/>
          <p:nvPr/>
        </p:nvSpPr>
        <p:spPr>
          <a:xfrm>
            <a:off x="4663440" y="2514600"/>
            <a:ext cx="1920240" cy="1325880"/>
          </a:xfrm>
          <a:prstGeom prst="rect">
            <a:avLst/>
          </a:prstGeom>
          <a:solidFill>
            <a:srgbClr val="FFFFFF"/>
          </a:solidFill>
          <a:ln w="9525">
            <a:solidFill>
              <a:srgbClr val="E1E3E5"/>
            </a:solidFill>
            <a:prstDash val="solid"/>
          </a:ln>
        </p:spPr>
      </p:sp>
      <p:sp>
        <p:nvSpPr>
          <p:cNvPr id="12" name="Text 9"/>
          <p:cNvSpPr txBox="1"/>
          <p:nvPr/>
        </p:nvSpPr>
        <p:spPr>
          <a:xfrm>
            <a:off x="4846320" y="2624328"/>
            <a:ext cx="1645920" cy="411480"/>
          </a:xfrm>
          <a:prstGeom prst="rect">
            <a:avLst/>
          </a:prstGeom>
          <a:noFill/>
          <a:ln/>
        </p:spPr>
        <p:txBody>
          <a:bodyPr wrap="square" lIns="0" tIns="0" rIns="0" bIns="0" rtlCol="0" anchor="t"/>
          <a:lstStyle/>
          <a:p>
            <a:pPr indent="0" marL="0">
              <a:buNone/>
            </a:pPr>
            <a:r>
              <a:rPr lang="en-US" sz="2000" b="1" dirty="0">
                <a:solidFill>
                  <a:srgbClr val="0F1B2D"/>
                </a:solidFill>
                <a:latin typeface="Cambria" pitchFamily="34" charset="0"/>
                <a:ea typeface="Cambria" pitchFamily="34" charset="-122"/>
                <a:cs typeface="Cambria" pitchFamily="34" charset="-120"/>
              </a:rPr>
              <a:t>0,98–1,00</a:t>
            </a:r>
            <a:endParaRPr lang="en-US" sz="2000" dirty="0"/>
          </a:p>
        </p:txBody>
      </p:sp>
      <p:sp>
        <p:nvSpPr>
          <p:cNvPr id="13" name="Text 10"/>
          <p:cNvSpPr txBox="1"/>
          <p:nvPr/>
        </p:nvSpPr>
        <p:spPr>
          <a:xfrm>
            <a:off x="4846320" y="3063240"/>
            <a:ext cx="1645920" cy="704088"/>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 кадрам: проверка на почти копиях</a:t>
            </a:r>
            <a:endParaRPr lang="en-US" sz="900" dirty="0"/>
          </a:p>
        </p:txBody>
      </p:sp>
      <p:sp>
        <p:nvSpPr>
          <p:cNvPr id="14" name="Shape 11"/>
          <p:cNvSpPr/>
          <p:nvPr/>
        </p:nvSpPr>
        <p:spPr>
          <a:xfrm>
            <a:off x="6720840" y="2514600"/>
            <a:ext cx="1965960" cy="1325880"/>
          </a:xfrm>
          <a:prstGeom prst="rect">
            <a:avLst/>
          </a:prstGeom>
          <a:solidFill>
            <a:srgbClr val="0F1B2D"/>
          </a:solidFill>
          <a:ln w="9525">
            <a:solidFill>
              <a:srgbClr val="0F1B2D"/>
            </a:solidFill>
            <a:prstDash val="solid"/>
          </a:ln>
        </p:spPr>
      </p:sp>
      <p:sp>
        <p:nvSpPr>
          <p:cNvPr id="15" name="Text 12"/>
          <p:cNvSpPr txBox="1"/>
          <p:nvPr/>
        </p:nvSpPr>
        <p:spPr>
          <a:xfrm>
            <a:off x="6903720" y="2624328"/>
            <a:ext cx="1691640" cy="411480"/>
          </a:xfrm>
          <a:prstGeom prst="rect">
            <a:avLst/>
          </a:prstGeom>
          <a:noFill/>
          <a:ln/>
        </p:spPr>
        <p:txBody>
          <a:bodyPr wrap="square" lIns="0" tIns="0" rIns="0" bIns="0" rtlCol="0" anchor="t"/>
          <a:lstStyle/>
          <a:p>
            <a:pPr indent="0" marL="0">
              <a:buNone/>
            </a:pPr>
            <a:r>
              <a:rPr lang="en-US" sz="2000" b="1" dirty="0">
                <a:solidFill>
                  <a:srgbClr val="4C9BFF"/>
                </a:solidFill>
                <a:latin typeface="Cambria" pitchFamily="34" charset="0"/>
                <a:ea typeface="Cambria" pitchFamily="34" charset="-122"/>
                <a:cs typeface="Cambria" pitchFamily="34" charset="-120"/>
              </a:rPr>
              <a:t>≈ 0,86</a:t>
            </a:r>
            <a:endParaRPr lang="en-US" sz="2000" dirty="0"/>
          </a:p>
        </p:txBody>
      </p:sp>
      <p:sp>
        <p:nvSpPr>
          <p:cNvPr id="16" name="Text 13"/>
          <p:cNvSpPr txBox="1"/>
          <p:nvPr/>
        </p:nvSpPr>
        <p:spPr>
          <a:xfrm>
            <a:off x="6903720" y="3063240"/>
            <a:ext cx="1691640" cy="704088"/>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по проездам: честная оценка, на 0,03–0,24 ниже</a:t>
            </a:r>
            <a:endParaRPr lang="en-US" sz="900" dirty="0"/>
          </a:p>
        </p:txBody>
      </p:sp>
      <p:sp>
        <p:nvSpPr>
          <p:cNvPr id="17" name="Text 14"/>
          <p:cNvSpPr txBox="1"/>
          <p:nvPr/>
        </p:nvSpPr>
        <p:spPr>
          <a:xfrm>
            <a:off x="4663440" y="3858768"/>
            <a:ext cx="4023360" cy="182880"/>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Пример прототипа на NumPy; числа варианта у каждого свои</a:t>
            </a:r>
            <a:endParaRPr lang="en-US" sz="800" dirty="0"/>
          </a:p>
        </p:txBody>
      </p:sp>
      <p:sp>
        <p:nvSpPr>
          <p:cNvPr id="18" name="Shape 15"/>
          <p:cNvSpPr/>
          <p:nvPr/>
        </p:nvSpPr>
        <p:spPr>
          <a:xfrm>
            <a:off x="457200" y="4114800"/>
            <a:ext cx="8229600" cy="548640"/>
          </a:xfrm>
          <a:prstGeom prst="rect">
            <a:avLst/>
          </a:prstGeom>
          <a:solidFill>
            <a:srgbClr val="0F1B2D"/>
          </a:solidFill>
          <a:ln w="9525">
            <a:solidFill>
              <a:srgbClr val="0F1B2D"/>
            </a:solidFill>
            <a:prstDash val="solid"/>
          </a:ln>
        </p:spPr>
      </p:sp>
      <p:sp>
        <p:nvSpPr>
          <p:cNvPr id="19" name="Shape 16"/>
          <p:cNvSpPr/>
          <p:nvPr/>
        </p:nvSpPr>
        <p:spPr>
          <a:xfrm>
            <a:off x="658368" y="4187952"/>
            <a:ext cx="457200" cy="402336"/>
          </a:xfrm>
          <a:prstGeom prst="hexagon">
            <a:avLst/>
          </a:prstGeom>
          <a:solidFill>
            <a:srgbClr val="4C9BFF"/>
          </a:solidFill>
          <a:ln w="6350">
            <a:solidFill>
              <a:srgbClr val="4C9BFF"/>
            </a:solidFill>
            <a:prstDash val="solid"/>
          </a:ln>
        </p:spPr>
      </p:sp>
      <p:sp>
        <p:nvSpPr>
          <p:cNvPr id="20" name="Text 17"/>
          <p:cNvSpPr txBox="1"/>
          <p:nvPr/>
        </p:nvSpPr>
        <p:spPr>
          <a:xfrm>
            <a:off x="658368" y="418795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1" name="Text 18"/>
          <p:cNvSpPr txBox="1"/>
          <p:nvPr/>
        </p:nvSpPr>
        <p:spPr>
          <a:xfrm>
            <a:off x="1280160" y="4114800"/>
            <a:ext cx="722376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Решение: </a:t>
            </a:r>
            <a:pPr indent="0" marL="0">
              <a:buNone/>
            </a:pPr>
            <a:r>
              <a:rPr lang="en-US" sz="1050" dirty="0">
                <a:solidFill>
                  <a:srgbClr val="C9CDD2"/>
                </a:solidFill>
                <a:latin typeface="Calibri" pitchFamily="34" charset="0"/>
                <a:ea typeface="Calibri" pitchFamily="34" charset="-122"/>
                <a:cs typeface="Calibri" pitchFamily="34" charset="-120"/>
              </a:rPr>
              <a:t>разбиение по группам – вся группа в одну часть, со стратификацией по классу.</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ПОРЯДОК ОПЫТОВ</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Журнал опытов</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45720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7" name="Text 5"/>
          <p:cNvSpPr txBox="1"/>
          <p:nvPr/>
        </p:nvSpPr>
        <p:spPr>
          <a:xfrm>
            <a:off x="960120" y="1161288"/>
            <a:ext cx="28346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Одно изменение</a:t>
            </a:r>
            <a:endParaRPr lang="en-US" sz="1100" dirty="0"/>
          </a:p>
        </p:txBody>
      </p:sp>
      <p:sp>
        <p:nvSpPr>
          <p:cNvPr id="8" name="Text 6"/>
          <p:cNvSpPr txBox="1"/>
          <p:nvPr/>
        </p:nvSpPr>
        <p:spPr>
          <a:xfrm>
            <a:off x="960120" y="1453896"/>
            <a:ext cx="28346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иначе не понять, что помогло</a:t>
            </a:r>
            <a:endParaRPr lang="en-US" sz="900" dirty="0"/>
          </a:p>
        </p:txBody>
      </p:sp>
      <p:sp>
        <p:nvSpPr>
          <p:cNvPr id="9" name="Text 7"/>
          <p:cNvSpPr txBox="1"/>
          <p:nvPr/>
        </p:nvSpPr>
        <p:spPr>
          <a:xfrm>
            <a:off x="457200" y="187452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960120" y="1892808"/>
            <a:ext cx="28346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Фиксированное зерно</a:t>
            </a:r>
            <a:endParaRPr lang="en-US" sz="1100" dirty="0"/>
          </a:p>
        </p:txBody>
      </p:sp>
      <p:sp>
        <p:nvSpPr>
          <p:cNvPr id="11" name="Text 9"/>
          <p:cNvSpPr txBox="1"/>
          <p:nvPr/>
        </p:nvSpPr>
        <p:spPr>
          <a:xfrm>
            <a:off x="960120" y="2185416"/>
            <a:ext cx="28346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SEED = 42, повтор с другим</a:t>
            </a:r>
            <a:endParaRPr lang="en-US" sz="900" dirty="0"/>
          </a:p>
        </p:txBody>
      </p:sp>
      <p:sp>
        <p:nvSpPr>
          <p:cNvPr id="12" name="Text 10"/>
          <p:cNvSpPr txBox="1"/>
          <p:nvPr/>
        </p:nvSpPr>
        <p:spPr>
          <a:xfrm>
            <a:off x="457200" y="260604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3" name="Text 11"/>
          <p:cNvSpPr txBox="1"/>
          <p:nvPr/>
        </p:nvSpPr>
        <p:spPr>
          <a:xfrm>
            <a:off x="960120" y="2624328"/>
            <a:ext cx="28346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Каждое обучение – строка</a:t>
            </a:r>
            <a:endParaRPr lang="en-US" sz="1100" dirty="0"/>
          </a:p>
        </p:txBody>
      </p:sp>
      <p:sp>
        <p:nvSpPr>
          <p:cNvPr id="14" name="Text 12"/>
          <p:cNvSpPr txBox="1"/>
          <p:nvPr/>
        </p:nvSpPr>
        <p:spPr>
          <a:xfrm>
            <a:off x="960120" y="2916936"/>
            <a:ext cx="28346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настройки и метрики на валидации</a:t>
            </a:r>
            <a:endParaRPr lang="en-US" sz="900" dirty="0"/>
          </a:p>
        </p:txBody>
      </p:sp>
      <p:sp>
        <p:nvSpPr>
          <p:cNvPr id="15" name="Text 13"/>
          <p:cNvSpPr txBox="1"/>
          <p:nvPr/>
        </p:nvSpPr>
        <p:spPr>
          <a:xfrm>
            <a:off x="457200" y="333756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04</a:t>
            </a:r>
            <a:endParaRPr lang="en-US" sz="1600" dirty="0"/>
          </a:p>
        </p:txBody>
      </p:sp>
      <p:sp>
        <p:nvSpPr>
          <p:cNvPr id="16" name="Text 14"/>
          <p:cNvSpPr txBox="1"/>
          <p:nvPr/>
        </p:nvSpPr>
        <p:spPr>
          <a:xfrm>
            <a:off x="960120" y="3355848"/>
            <a:ext cx="283464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Бюджет заранее</a:t>
            </a:r>
            <a:endParaRPr lang="en-US" sz="1100" dirty="0"/>
          </a:p>
        </p:txBody>
      </p:sp>
      <p:sp>
        <p:nvSpPr>
          <p:cNvPr id="17" name="Text 15"/>
          <p:cNvSpPr txBox="1"/>
          <p:nvPr/>
        </p:nvSpPr>
        <p:spPr>
          <a:xfrm>
            <a:off x="960120" y="3648456"/>
            <a:ext cx="283464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в ПР №5 – не больше 8 обучений</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931920" y="1143000"/>
          <a:ext cx="4754880" cy="914400"/>
        </p:xfrm>
        <a:graphic>
          <a:graphicData uri="http://schemas.openxmlformats.org/drawingml/2006/table">
            <a:tbl>
              <a:tblPr/>
              <a:tblGrid>
                <a:gridCol w="1143000"/>
                <a:gridCol w="1508760"/>
                <a:gridCol w="594360"/>
                <a:gridCol w="1508760"/>
              </a:tblGrid>
              <a:tr h="38404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Опыт</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Что изменили</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F-мера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Вывод</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r>
              <a:tr h="384048">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базовая</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разбиение по проездам</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0,88</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переобучение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базовая, ловушка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разбиение по кадрам</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0,99</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утечка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r h="384048">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аугментация</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сдвиг, яркость</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0,87</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в пределах шума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 отражение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отражение</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0,79</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путает «налево» и «направо»</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r h="384048">
                <a:tc>
                  <a:txBody>
                    <a:bodyPr/>
                    <a:lstStyle/>
                    <a:p>
                      <a:pPr indent="0" marL="0">
                        <a:buNone/>
                      </a:pPr>
                      <a:r>
                        <a:rPr lang="en-US" sz="850" b="1" dirty="0">
                          <a:solidFill>
                            <a:srgbClr val="0F1B2D"/>
                          </a:solidFill>
                          <a:latin typeface="Calibri" pitchFamily="34" charset="0"/>
                          <a:ea typeface="Calibri" pitchFamily="34" charset="-122"/>
                          <a:cs typeface="Calibri" pitchFamily="34" charset="-120"/>
                        </a:rPr>
                        <a:t>поиск 1…3</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lr, снижение весов, ширина</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850" dirty="0">
                          <a:solidFill>
                            <a:srgbClr val="686F7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3931920" y="3520440"/>
            <a:ext cx="4754880" cy="201168"/>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Пример: прототип на NumPy, вариант 1</a:t>
            </a:r>
            <a:endParaRPr lang="en-US" sz="800" dirty="0"/>
          </a:p>
        </p:txBody>
      </p:sp>
      <p:sp>
        <p:nvSpPr>
          <p:cNvPr id="20" name="Text 17"/>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000" dirty="0">
                <a:solidFill>
                  <a:srgbClr val="1F63C9"/>
                </a:solidFill>
                <a:latin typeface="Calibri" pitchFamily="34" charset="0"/>
                <a:ea typeface="Calibri" pitchFamily="34" charset="-122"/>
                <a:cs typeface="Calibri" pitchFamily="34" charset="-120"/>
              </a:rPr>
              <a:t>Журнал – обязательная часть отчета: на защите спрашивают по нему. Опыт, которого нет в журнале, не считается.</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claude/work/b26/img/sec4.png">    </p:cNvPr>
          <p:cNvPicPr>
            <a:picLocks noChangeAspect="1"/>
          </p:cNvPicPr>
          <p:nvPr/>
        </p:nvPicPr>
        <p:blipFill>
          <a:blip r:embed="rId1"/>
          <a:stretch>
            <a:fillRect/>
          </a:stretch>
        </p:blipFill>
        <p:spPr>
          <a:xfrm>
            <a:off x="4206240" y="0"/>
            <a:ext cx="4937760" cy="5143500"/>
          </a:xfrm>
          <a:prstGeom prst="rect">
            <a:avLst/>
          </a:prstGeom>
        </p:spPr>
      </p:pic>
      <p:sp>
        <p:nvSpPr>
          <p:cNvPr id="3" name="Text 0"/>
          <p:cNvSpPr txBox="1"/>
          <p:nvPr/>
        </p:nvSpPr>
        <p:spPr>
          <a:xfrm>
            <a:off x="548640" y="868680"/>
            <a:ext cx="2286000" cy="914400"/>
          </a:xfrm>
          <a:prstGeom prst="rect">
            <a:avLst/>
          </a:prstGeom>
          <a:noFill/>
          <a:ln/>
        </p:spPr>
        <p:txBody>
          <a:bodyPr wrap="square" lIns="0" tIns="0" rIns="0" bIns="0" rtlCol="0" anchor="t"/>
          <a:lstStyle/>
          <a:p>
            <a:pPr indent="0" marL="0">
              <a:buNone/>
            </a:pPr>
            <a:r>
              <a:rPr lang="en-US" sz="4800" b="1" dirty="0">
                <a:solidFill>
                  <a:srgbClr val="4C9BFF"/>
                </a:solidFill>
                <a:latin typeface="Cambria" pitchFamily="34" charset="0"/>
                <a:ea typeface="Cambria" pitchFamily="34" charset="-122"/>
                <a:cs typeface="Cambria" pitchFamily="34" charset="-120"/>
              </a:rPr>
              <a:t>04</a:t>
            </a:r>
            <a:endParaRPr lang="en-US" sz="4800" dirty="0"/>
          </a:p>
        </p:txBody>
      </p:sp>
      <p:sp>
        <p:nvSpPr>
          <p:cNvPr id="4" name="Text 1"/>
          <p:cNvSpPr txBox="1"/>
          <p:nvPr/>
        </p:nvSpPr>
        <p:spPr>
          <a:xfrm>
            <a:off x="548640" y="2103120"/>
            <a:ext cx="3566160" cy="1188720"/>
          </a:xfrm>
          <a:prstGeom prst="rect">
            <a:avLst/>
          </a:prstGeom>
          <a:noFill/>
          <a:ln/>
        </p:spPr>
        <p:txBody>
          <a:bodyPr wrap="square" lIns="0" tIns="0" rIns="0" bIns="0" rtlCol="0" anchor="ctr"/>
          <a:lstStyle/>
          <a:p>
            <a:pPr indent="0" marL="0">
              <a:buNone/>
            </a:pPr>
            <a:r>
              <a:rPr lang="en-US" sz="2200" b="1" dirty="0">
                <a:solidFill>
                  <a:srgbClr val="0F1B2D"/>
                </a:solidFill>
                <a:latin typeface="Cambria" pitchFamily="34" charset="0"/>
                <a:ea typeface="Cambria" pitchFamily="34" charset="-122"/>
                <a:cs typeface="Cambria" pitchFamily="34" charset="-120"/>
              </a:rPr>
              <a:t>Итоговая работа</a:t>
            </a:r>
            <a:endParaRPr lang="en-US" sz="2200" dirty="0"/>
          </a:p>
        </p:txBody>
      </p:sp>
      <p:sp>
        <p:nvSpPr>
          <p:cNvPr id="5" name="Text 2"/>
          <p:cNvSpPr txBox="1"/>
          <p:nvPr/>
        </p:nvSpPr>
        <p:spPr>
          <a:xfrm>
            <a:off x="548640" y="3429000"/>
            <a:ext cx="3291840" cy="731520"/>
          </a:xfrm>
          <a:prstGeom prst="rect">
            <a:avLst/>
          </a:prstGeom>
          <a:noFill/>
          <a:ln/>
        </p:spPr>
        <p:txBody>
          <a:bodyPr wrap="square" lIns="0" tIns="0" rIns="0" bIns="0" rtlCol="0" anchor="t"/>
          <a:lstStyle/>
          <a:p>
            <a:pPr indent="0" marL="0">
              <a:buNone/>
            </a:pPr>
            <a:r>
              <a:rPr lang="en-US" sz="1000" dirty="0">
                <a:solidFill>
                  <a:srgbClr val="686F7B"/>
                </a:solidFill>
                <a:latin typeface="Calibri" pitchFamily="34" charset="0"/>
                <a:ea typeface="Calibri" pitchFamily="34" charset="-122"/>
                <a:cs typeface="Calibri" pitchFamily="34" charset="-120"/>
              </a:rPr>
              <a:t>Задача, данные, ход работы, критерии и защита</a:t>
            </a:r>
            <a:endParaRPr lang="en-US" sz="1000" dirty="0"/>
          </a:p>
        </p:txBody>
      </p:sp>
      <p:sp>
        <p:nvSpPr>
          <p:cNvPr id="6" name="Text 3"/>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7" name="Text 4"/>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ЗАДАЧА</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Какой знак видит камера?</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18</a:t>
            </a:r>
            <a:endParaRPr lang="en-US" sz="900" dirty="0"/>
          </a:p>
        </p:txBody>
      </p:sp>
      <p:pic>
        <p:nvPicPr>
          <p:cNvPr id="6" name="Image 0" descr="/home/claude/work/b26/img/signs.png">    </p:cNvPr>
          <p:cNvPicPr>
            <a:picLocks noChangeAspect="1"/>
          </p:cNvPicPr>
          <p:nvPr/>
        </p:nvPicPr>
        <p:blipFill>
          <a:blip r:embed="rId1"/>
          <a:stretch>
            <a:fillRect/>
          </a:stretch>
        </p:blipFill>
        <p:spPr>
          <a:xfrm>
            <a:off x="457200" y="1051560"/>
            <a:ext cx="8229600" cy="2204357"/>
          </a:xfrm>
          <a:prstGeom prst="rect">
            <a:avLst/>
          </a:prstGeom>
        </p:spPr>
      </p:pic>
      <p:sp>
        <p:nvSpPr>
          <p:cNvPr id="7" name="Text 4"/>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800" dirty="0">
                <a:solidFill>
                  <a:srgbClr val="686F7B"/>
                </a:solidFill>
                <a:latin typeface="Calibri" pitchFamily="34" charset="0"/>
                <a:ea typeface="Calibri" pitchFamily="34" charset="-122"/>
                <a:cs typeface="Calibri" pitchFamily="34" charset="-120"/>
              </a:rPr>
              <a:t>Вверху – знаки, внизу – кадры из набора. 0 Стоп · 1 Уступи дорогу · 2 Главная дорога · 3 Пешеходный переход · 4 Движение налево · 5 Движение направо · 6 Въезд запрещен · 7 Ограничение скорости</a:t>
            </a:r>
            <a:endParaRPr lang="en-US" sz="800" dirty="0"/>
          </a:p>
        </p:txBody>
      </p:sp>
      <p:sp>
        <p:nvSpPr>
          <p:cNvPr id="8" name="Text 5"/>
          <p:cNvSpPr txBox="1"/>
          <p:nvPr/>
        </p:nvSpPr>
        <p:spPr>
          <a:xfrm>
            <a:off x="457200" y="370332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9" name="Text 6"/>
          <p:cNvSpPr txBox="1"/>
          <p:nvPr/>
        </p:nvSpPr>
        <p:spPr>
          <a:xfrm>
            <a:off x="960120" y="3721608"/>
            <a:ext cx="21031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Кадр 32 × 32</a:t>
            </a:r>
            <a:endParaRPr lang="en-US" sz="1100" dirty="0"/>
          </a:p>
        </p:txBody>
      </p:sp>
      <p:sp>
        <p:nvSpPr>
          <p:cNvPr id="10" name="Text 7"/>
          <p:cNvSpPr txBox="1"/>
          <p:nvPr/>
        </p:nvSpPr>
        <p:spPr>
          <a:xfrm>
            <a:off x="960120" y="4014216"/>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детектор уже вырезал знак</a:t>
            </a:r>
            <a:endParaRPr lang="en-US" sz="900" dirty="0"/>
          </a:p>
        </p:txBody>
      </p:sp>
      <p:sp>
        <p:nvSpPr>
          <p:cNvPr id="11" name="Text 8"/>
          <p:cNvSpPr txBox="1"/>
          <p:nvPr/>
        </p:nvSpPr>
        <p:spPr>
          <a:xfrm>
            <a:off x="3246120" y="370332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2" name="Text 9"/>
          <p:cNvSpPr txBox="1"/>
          <p:nvPr/>
        </p:nvSpPr>
        <p:spPr>
          <a:xfrm>
            <a:off x="3749040" y="3721608"/>
            <a:ext cx="21031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Проезд</a:t>
            </a:r>
            <a:endParaRPr lang="en-US" sz="1100" dirty="0"/>
          </a:p>
        </p:txBody>
      </p:sp>
      <p:sp>
        <p:nvSpPr>
          <p:cNvPr id="13" name="Text 10"/>
          <p:cNvSpPr txBox="1"/>
          <p:nvPr/>
        </p:nvSpPr>
        <p:spPr>
          <a:xfrm>
            <a:off x="3749040" y="4014216"/>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серия кадров одного знака</a:t>
            </a:r>
            <a:endParaRPr lang="en-US" sz="900" dirty="0"/>
          </a:p>
        </p:txBody>
      </p:sp>
      <p:sp>
        <p:nvSpPr>
          <p:cNvPr id="14" name="Text 11"/>
          <p:cNvSpPr txBox="1"/>
          <p:nvPr/>
        </p:nvSpPr>
        <p:spPr>
          <a:xfrm>
            <a:off x="6035040" y="370332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5" name="Text 12"/>
          <p:cNvSpPr txBox="1"/>
          <p:nvPr/>
        </p:nvSpPr>
        <p:spPr>
          <a:xfrm>
            <a:off x="6537960" y="3721608"/>
            <a:ext cx="210312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Самое опасное</a:t>
            </a:r>
            <a:endParaRPr lang="en-US" sz="1100" dirty="0"/>
          </a:p>
        </p:txBody>
      </p:sp>
      <p:sp>
        <p:nvSpPr>
          <p:cNvPr id="16" name="Text 13"/>
          <p:cNvSpPr txBox="1"/>
          <p:nvPr/>
        </p:nvSpPr>
        <p:spPr>
          <a:xfrm>
            <a:off x="6537960" y="4014216"/>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не узнать «Стоп»</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ДАННЫЕ</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В данных есть ловушки</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143000"/>
            <a:ext cx="3931920" cy="2743200"/>
          </a:xfrm>
          <a:prstGeom prst="rect">
            <a:avLst/>
          </a:prstGeom>
          <a:solidFill>
            <a:srgbClr val="0F1B2D"/>
          </a:solidFill>
          <a:ln w="9525">
            <a:solidFill>
              <a:srgbClr val="0F1B2D"/>
            </a:solidFill>
            <a:prstDash val="solid"/>
          </a:ln>
        </p:spPr>
      </p:sp>
      <p:sp>
        <p:nvSpPr>
          <p:cNvPr id="7" name="Text 5"/>
          <p:cNvSpPr txBox="1"/>
          <p:nvPr/>
        </p:nvSpPr>
        <p:spPr>
          <a:xfrm>
            <a:off x="685800" y="1298448"/>
            <a:ext cx="3474720" cy="182880"/>
          </a:xfrm>
          <a:prstGeom prst="rect">
            <a:avLst/>
          </a:prstGeom>
          <a:noFill/>
          <a:ln/>
        </p:spPr>
        <p:txBody>
          <a:bodyPr wrap="square" lIns="0" tIns="0" rIns="0" bIns="0" rtlCol="0" anchor="t"/>
          <a:lstStyle/>
          <a:p>
            <a:pPr indent="0" marL="0">
              <a:buNone/>
            </a:pPr>
            <a:r>
              <a:rPr lang="en-US" sz="700" b="1" spc="200" kern="0" dirty="0">
                <a:solidFill>
                  <a:srgbClr val="4C9BFF"/>
                </a:solidFill>
                <a:latin typeface="Calibri" pitchFamily="34" charset="0"/>
                <a:ea typeface="Calibri" pitchFamily="34" charset="-122"/>
                <a:cs typeface="Calibri" pitchFamily="34" charset="-120"/>
              </a:rPr>
              <a:t>ФАЙЛ data/road_signs_vNN.npz</a:t>
            </a:r>
            <a:endParaRPr lang="en-US" sz="700" dirty="0"/>
          </a:p>
        </p:txBody>
      </p:sp>
      <p:sp>
        <p:nvSpPr>
          <p:cNvPr id="8" name="Text 6"/>
          <p:cNvSpPr txBox="1"/>
          <p:nvPr/>
        </p:nvSpPr>
        <p:spPr>
          <a:xfrm>
            <a:off x="685800" y="1600200"/>
            <a:ext cx="3566160" cy="2194560"/>
          </a:xfrm>
          <a:prstGeom prst="rect">
            <a:avLst/>
          </a:prstGeom>
          <a:noFill/>
          <a:ln/>
        </p:spPr>
        <p:txBody>
          <a:bodyPr wrap="square" lIns="0" tIns="0" rIns="0" bIns="0" rtlCol="0" anchor="t"/>
          <a:lstStyle/>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X_pool      N × 32 × 32 × 3, uint8</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y_pool      класс 0–7</a:t>
            </a:r>
            <a:endParaRPr lang="en-US" sz="900" dirty="0"/>
          </a:p>
          <a:p>
            <a:pPr indent="0" marL="0">
              <a:spcAft>
                <a:spcPts val="200"/>
              </a:spcAft>
              <a:buNone/>
            </a:pPr>
            <a:r>
              <a:rPr lang="en-US" sz="900" dirty="0">
                <a:solidFill>
                  <a:srgbClr val="4C9BFF"/>
                </a:solidFill>
                <a:latin typeface="Courier New" pitchFamily="34" charset="0"/>
                <a:ea typeface="Courier New" pitchFamily="34" charset="-122"/>
                <a:cs typeface="Courier New" pitchFamily="34" charset="-120"/>
              </a:rPr>
              <a:t>track_pool  номер проезда</a:t>
            </a:r>
            <a:endParaRPr lang="en-US" sz="900" dirty="0"/>
          </a:p>
          <a:p>
            <a:pPr indent="0" marL="0">
              <a:spcAft>
                <a:spcPts val="200"/>
              </a:spcAft>
              <a:buNone/>
            </a:pP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X_test, y_test, track_test</a:t>
            </a:r>
            <a:endParaRPr lang="en-US" sz="900" dirty="0"/>
          </a:p>
          <a:p>
            <a:pPr indent="0" marL="0">
              <a:spcAft>
                <a:spcPts val="200"/>
              </a:spcAft>
              <a:buNone/>
            </a:pPr>
            <a:r>
              <a:rPr lang="en-US" sz="900" dirty="0">
                <a:solidFill>
                  <a:srgbClr val="C9CDD2"/>
                </a:solidFill>
                <a:latin typeface="Courier New" pitchFamily="34" charset="0"/>
                <a:ea typeface="Courier New" pitchFamily="34" charset="-122"/>
                <a:cs typeface="Courier New" pitchFamily="34" charset="-120"/>
              </a:rPr>
              <a:t>  другие проезды; до шага 9</a:t>
            </a:r>
            <a:endParaRPr lang="en-US" sz="900" dirty="0"/>
          </a:p>
          <a:p>
            <a:pPr indent="0" marL="0">
              <a:spcAft>
                <a:spcPts val="200"/>
              </a:spcAft>
              <a:buNone/>
            </a:pPr>
            <a:r>
              <a:rPr lang="en-US" sz="900" dirty="0">
                <a:solidFill>
                  <a:srgbClr val="C9CDD2"/>
                </a:solidFill>
                <a:latin typeface="Courier New" pitchFamily="34" charset="0"/>
                <a:ea typeface="Courier New" pitchFamily="34" charset="-122"/>
                <a:cs typeface="Courier New" pitchFamily="34" charset="-120"/>
              </a:rPr>
              <a:t>  не открывать</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classes     названия классов</a:t>
            </a:r>
            <a:endParaRPr lang="en-US" sz="900" dirty="0"/>
          </a:p>
        </p:txBody>
      </p:sp>
      <p:sp>
        <p:nvSpPr>
          <p:cNvPr id="9" name="Shape 7"/>
          <p:cNvSpPr/>
          <p:nvPr/>
        </p:nvSpPr>
        <p:spPr>
          <a:xfrm>
            <a:off x="4709160" y="1188720"/>
            <a:ext cx="457200" cy="402336"/>
          </a:xfrm>
          <a:prstGeom prst="hexagon">
            <a:avLst/>
          </a:prstGeom>
          <a:solidFill>
            <a:srgbClr val="EAF2FF"/>
          </a:solidFill>
          <a:ln w="6350">
            <a:solidFill>
              <a:srgbClr val="EAF2FF"/>
            </a:solidFill>
            <a:prstDash val="solid"/>
          </a:ln>
        </p:spPr>
      </p:sp>
      <p:sp>
        <p:nvSpPr>
          <p:cNvPr id="10" name="Text 8"/>
          <p:cNvSpPr txBox="1"/>
          <p:nvPr/>
        </p:nvSpPr>
        <p:spPr>
          <a:xfrm>
            <a:off x="4709160" y="1188720"/>
            <a:ext cx="457200" cy="402336"/>
          </a:xfrm>
          <a:prstGeom prst="rect">
            <a:avLst/>
          </a:prstGeom>
          <a:noFill/>
          <a:ln/>
        </p:spPr>
        <p:txBody>
          <a:bodyPr wrap="square" lIns="0" tIns="0" rIns="0" bIns="0" rtlCol="0" anchor="ctr"/>
          <a:lstStyle/>
          <a:p>
            <a:pPr algn="ctr" indent="0" marL="0">
              <a:buNone/>
            </a:pPr>
            <a:r>
              <a:rPr lang="en-US" sz="900" b="1" dirty="0">
                <a:solidFill>
                  <a:srgbClr val="1F63C9"/>
                </a:solidFill>
                <a:latin typeface="Calibri" pitchFamily="34" charset="0"/>
                <a:ea typeface="Calibri" pitchFamily="34" charset="-122"/>
                <a:cs typeface="Calibri" pitchFamily="34" charset="-120"/>
              </a:rPr>
              <a:t>1</a:t>
            </a:r>
            <a:endParaRPr lang="en-US" sz="900" dirty="0"/>
          </a:p>
        </p:txBody>
      </p:sp>
      <p:sp>
        <p:nvSpPr>
          <p:cNvPr id="11" name="Text 9"/>
          <p:cNvSpPr txBox="1"/>
          <p:nvPr/>
        </p:nvSpPr>
        <p:spPr>
          <a:xfrm>
            <a:off x="5303520" y="1170432"/>
            <a:ext cx="3383280" cy="457200"/>
          </a:xfrm>
          <a:prstGeom prst="rect">
            <a:avLst/>
          </a:prstGeom>
          <a:noFill/>
          <a:ln/>
        </p:spPr>
        <p:txBody>
          <a:bodyPr wrap="square" lIns="0" tIns="0" rIns="0" bIns="0" rtlCol="0" anchor="ctr"/>
          <a:lstStyle/>
          <a:p>
            <a:pPr indent="0" marL="0">
              <a:buNone/>
            </a:pPr>
            <a:r>
              <a:rPr lang="en-US" sz="1050" dirty="0">
                <a:solidFill>
                  <a:srgbClr val="0F1B2D"/>
                </a:solidFill>
                <a:latin typeface="Calibri" pitchFamily="34" charset="0"/>
                <a:ea typeface="Calibri" pitchFamily="34" charset="-122"/>
                <a:cs typeface="Calibri" pitchFamily="34" charset="-120"/>
              </a:rPr>
              <a:t>Все ли кадры – действительно кадры со знаком?</a:t>
            </a:r>
            <a:endParaRPr lang="en-US" sz="1050" dirty="0"/>
          </a:p>
        </p:txBody>
      </p:sp>
      <p:sp>
        <p:nvSpPr>
          <p:cNvPr id="12" name="Shape 10"/>
          <p:cNvSpPr/>
          <p:nvPr/>
        </p:nvSpPr>
        <p:spPr>
          <a:xfrm>
            <a:off x="4709160" y="1874520"/>
            <a:ext cx="457200" cy="402336"/>
          </a:xfrm>
          <a:prstGeom prst="hexagon">
            <a:avLst/>
          </a:prstGeom>
          <a:solidFill>
            <a:srgbClr val="0F1B2D"/>
          </a:solidFill>
          <a:ln w="6350">
            <a:solidFill>
              <a:srgbClr val="0F1B2D"/>
            </a:solidFill>
            <a:prstDash val="solid"/>
          </a:ln>
        </p:spPr>
      </p:sp>
      <p:sp>
        <p:nvSpPr>
          <p:cNvPr id="13" name="Text 11"/>
          <p:cNvSpPr txBox="1"/>
          <p:nvPr/>
        </p:nvSpPr>
        <p:spPr>
          <a:xfrm>
            <a:off x="4709160" y="1874520"/>
            <a:ext cx="4572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txBox="1"/>
          <p:nvPr/>
        </p:nvSpPr>
        <p:spPr>
          <a:xfrm>
            <a:off x="5303520" y="1856232"/>
            <a:ext cx="3383280" cy="457200"/>
          </a:xfrm>
          <a:prstGeom prst="rect">
            <a:avLst/>
          </a:prstGeom>
          <a:noFill/>
          <a:ln/>
        </p:spPr>
        <p:txBody>
          <a:bodyPr wrap="square" lIns="0" tIns="0" rIns="0" bIns="0" rtlCol="0" anchor="ctr"/>
          <a:lstStyle/>
          <a:p>
            <a:pPr indent="0" marL="0">
              <a:buNone/>
            </a:pPr>
            <a:r>
              <a:rPr lang="en-US" sz="1050" dirty="0">
                <a:solidFill>
                  <a:srgbClr val="0F1B2D"/>
                </a:solidFill>
                <a:latin typeface="Calibri" pitchFamily="34" charset="0"/>
                <a:ea typeface="Calibri" pitchFamily="34" charset="-122"/>
                <a:cs typeface="Calibri" pitchFamily="34" charset="-120"/>
              </a:rPr>
              <a:t>Чем похожи кадры одного проезда и что это значит для разбиения?</a:t>
            </a:r>
            <a:endParaRPr lang="en-US" sz="1050" dirty="0"/>
          </a:p>
        </p:txBody>
      </p:sp>
      <p:sp>
        <p:nvSpPr>
          <p:cNvPr id="15" name="Shape 13"/>
          <p:cNvSpPr/>
          <p:nvPr/>
        </p:nvSpPr>
        <p:spPr>
          <a:xfrm>
            <a:off x="4709160" y="2560320"/>
            <a:ext cx="457200" cy="402336"/>
          </a:xfrm>
          <a:prstGeom prst="hexagon">
            <a:avLst/>
          </a:prstGeom>
          <a:solidFill>
            <a:srgbClr val="EAF2FF"/>
          </a:solidFill>
          <a:ln w="6350">
            <a:solidFill>
              <a:srgbClr val="EAF2FF"/>
            </a:solidFill>
            <a:prstDash val="solid"/>
          </a:ln>
        </p:spPr>
      </p:sp>
      <p:sp>
        <p:nvSpPr>
          <p:cNvPr id="16" name="Text 14"/>
          <p:cNvSpPr txBox="1"/>
          <p:nvPr/>
        </p:nvSpPr>
        <p:spPr>
          <a:xfrm>
            <a:off x="4709160" y="2560320"/>
            <a:ext cx="457200" cy="402336"/>
          </a:xfrm>
          <a:prstGeom prst="rect">
            <a:avLst/>
          </a:prstGeom>
          <a:noFill/>
          <a:ln/>
        </p:spPr>
        <p:txBody>
          <a:bodyPr wrap="square" lIns="0" tIns="0" rIns="0" bIns="0" rtlCol="0" anchor="ctr"/>
          <a:lstStyle/>
          <a:p>
            <a:pPr algn="ctr" indent="0" marL="0">
              <a:buNone/>
            </a:pPr>
            <a:r>
              <a:rPr lang="en-US" sz="900" b="1" dirty="0">
                <a:solidFill>
                  <a:srgbClr val="1F63C9"/>
                </a:solidFill>
                <a:latin typeface="Calibri" pitchFamily="34" charset="0"/>
                <a:ea typeface="Calibri" pitchFamily="34" charset="-122"/>
                <a:cs typeface="Calibri" pitchFamily="34" charset="-120"/>
              </a:rPr>
              <a:t>3</a:t>
            </a:r>
            <a:endParaRPr lang="en-US" sz="900" dirty="0"/>
          </a:p>
        </p:txBody>
      </p:sp>
      <p:sp>
        <p:nvSpPr>
          <p:cNvPr id="17" name="Text 15"/>
          <p:cNvSpPr txBox="1"/>
          <p:nvPr/>
        </p:nvSpPr>
        <p:spPr>
          <a:xfrm>
            <a:off x="5303520" y="2542032"/>
            <a:ext cx="3383280" cy="457200"/>
          </a:xfrm>
          <a:prstGeom prst="rect">
            <a:avLst/>
          </a:prstGeom>
          <a:noFill/>
          <a:ln/>
        </p:spPr>
        <p:txBody>
          <a:bodyPr wrap="square" lIns="0" tIns="0" rIns="0" bIns="0" rtlCol="0" anchor="ctr"/>
          <a:lstStyle/>
          <a:p>
            <a:pPr indent="0" marL="0">
              <a:buNone/>
            </a:pPr>
            <a:r>
              <a:rPr lang="en-US" sz="1050" dirty="0">
                <a:solidFill>
                  <a:srgbClr val="0F1B2D"/>
                </a:solidFill>
                <a:latin typeface="Calibri" pitchFamily="34" charset="0"/>
                <a:ea typeface="Calibri" pitchFamily="34" charset="-122"/>
                <a:cs typeface="Calibri" pitchFamily="34" charset="-120"/>
              </a:rPr>
              <a:t>Все ли преобразования при аугментации сохраняют класс?</a:t>
            </a:r>
            <a:endParaRPr lang="en-US" sz="1050" dirty="0"/>
          </a:p>
        </p:txBody>
      </p:sp>
      <p:sp>
        <p:nvSpPr>
          <p:cNvPr id="18" name="Shape 16"/>
          <p:cNvSpPr/>
          <p:nvPr/>
        </p:nvSpPr>
        <p:spPr>
          <a:xfrm>
            <a:off x="4709160" y="3246120"/>
            <a:ext cx="457200" cy="402336"/>
          </a:xfrm>
          <a:prstGeom prst="hexagon">
            <a:avLst/>
          </a:prstGeom>
          <a:solidFill>
            <a:srgbClr val="EAF2FF"/>
          </a:solidFill>
          <a:ln w="6350">
            <a:solidFill>
              <a:srgbClr val="EAF2FF"/>
            </a:solidFill>
            <a:prstDash val="solid"/>
          </a:ln>
        </p:spPr>
      </p:sp>
      <p:sp>
        <p:nvSpPr>
          <p:cNvPr id="19" name="Text 17"/>
          <p:cNvSpPr txBox="1"/>
          <p:nvPr/>
        </p:nvSpPr>
        <p:spPr>
          <a:xfrm>
            <a:off x="4709160" y="3246120"/>
            <a:ext cx="457200" cy="402336"/>
          </a:xfrm>
          <a:prstGeom prst="rect">
            <a:avLst/>
          </a:prstGeom>
          <a:noFill/>
          <a:ln/>
        </p:spPr>
        <p:txBody>
          <a:bodyPr wrap="square" lIns="0" tIns="0" rIns="0" bIns="0" rtlCol="0" anchor="ctr"/>
          <a:lstStyle/>
          <a:p>
            <a:pPr algn="ctr" indent="0" marL="0">
              <a:buNone/>
            </a:pPr>
            <a:r>
              <a:rPr lang="en-US" sz="900" b="1" dirty="0">
                <a:solidFill>
                  <a:srgbClr val="1F63C9"/>
                </a:solidFill>
                <a:latin typeface="Calibri" pitchFamily="34" charset="0"/>
                <a:ea typeface="Calibri" pitchFamily="34" charset="-122"/>
                <a:cs typeface="Calibri" pitchFamily="34" charset="-120"/>
              </a:rPr>
              <a:t>4</a:t>
            </a:r>
            <a:endParaRPr lang="en-US" sz="900" dirty="0"/>
          </a:p>
        </p:txBody>
      </p:sp>
      <p:sp>
        <p:nvSpPr>
          <p:cNvPr id="20" name="Text 18"/>
          <p:cNvSpPr txBox="1"/>
          <p:nvPr/>
        </p:nvSpPr>
        <p:spPr>
          <a:xfrm>
            <a:off x="5303520" y="3227832"/>
            <a:ext cx="3383280" cy="457200"/>
          </a:xfrm>
          <a:prstGeom prst="rect">
            <a:avLst/>
          </a:prstGeom>
          <a:noFill/>
          <a:ln/>
        </p:spPr>
        <p:txBody>
          <a:bodyPr wrap="square" lIns="0" tIns="0" rIns="0" bIns="0" rtlCol="0" anchor="ctr"/>
          <a:lstStyle/>
          <a:p>
            <a:pPr indent="0" marL="0">
              <a:buNone/>
            </a:pPr>
            <a:r>
              <a:rPr lang="en-US" sz="1050" dirty="0">
                <a:solidFill>
                  <a:srgbClr val="0F1B2D"/>
                </a:solidFill>
                <a:latin typeface="Calibri" pitchFamily="34" charset="0"/>
                <a:ea typeface="Calibri" pitchFamily="34" charset="-122"/>
                <a:cs typeface="Calibri" pitchFamily="34" charset="-120"/>
              </a:rPr>
              <a:t>Все ли классы одинаково часты и одинаково важны?</a:t>
            </a:r>
            <a:endParaRPr lang="en-US" sz="1050" dirty="0"/>
          </a:p>
        </p:txBody>
      </p:sp>
      <p:sp>
        <p:nvSpPr>
          <p:cNvPr id="21" name="Text 19"/>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000" dirty="0">
                <a:solidFill>
                  <a:srgbClr val="1F63C9"/>
                </a:solidFill>
                <a:latin typeface="Calibri" pitchFamily="34" charset="0"/>
                <a:ea typeface="Calibri" pitchFamily="34" charset="-122"/>
                <a:cs typeface="Calibri" pitchFamily="34" charset="-120"/>
              </a:rPr>
              <a:t>Данные выгрузила служба сбора, и про них известно только то, что написано в ноутбуке. Проверять их – ваша работа.</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ХОД РАБОТЫ</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Десять шагов за два часа</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097280"/>
            <a:ext cx="4023360" cy="3520440"/>
          </a:xfrm>
          <a:prstGeom prst="rect">
            <a:avLst/>
          </a:prstGeom>
          <a:solidFill>
            <a:srgbClr val="FFFFFF"/>
          </a:solidFill>
          <a:ln w="9525">
            <a:solidFill>
              <a:srgbClr val="E1E3E5"/>
            </a:solidFill>
            <a:prstDash val="solid"/>
          </a:ln>
        </p:spPr>
      </p:sp>
      <p:sp>
        <p:nvSpPr>
          <p:cNvPr id="7" name="Text 5"/>
          <p:cNvSpPr txBox="1"/>
          <p:nvPr/>
        </p:nvSpPr>
        <p:spPr>
          <a:xfrm>
            <a:off x="658368" y="1216152"/>
            <a:ext cx="3657600" cy="182880"/>
          </a:xfrm>
          <a:prstGeom prst="rect">
            <a:avLst/>
          </a:prstGeom>
          <a:noFill/>
          <a:ln/>
        </p:spPr>
        <p:txBody>
          <a:bodyPr wrap="square" lIns="0" tIns="0" rIns="0" bIns="0" rtlCol="0" anchor="t"/>
          <a:lstStyle/>
          <a:p>
            <a:pPr indent="0" marL="0">
              <a:buNone/>
            </a:pPr>
            <a:r>
              <a:rPr lang="en-US" sz="700" b="1" spc="200" kern="0" dirty="0">
                <a:solidFill>
                  <a:srgbClr val="1F63C9"/>
                </a:solidFill>
                <a:latin typeface="Calibri" pitchFamily="34" charset="0"/>
                <a:ea typeface="Calibri" pitchFamily="34" charset="-122"/>
                <a:cs typeface="Calibri" pitchFamily="34" charset="-120"/>
              </a:rPr>
              <a:t>ПР №4 · ПЕРВЫЙ ЧАС</a:t>
            </a:r>
            <a:endParaRPr lang="en-US" sz="700" dirty="0"/>
          </a:p>
        </p:txBody>
      </p:sp>
      <p:sp>
        <p:nvSpPr>
          <p:cNvPr id="8" name="Text 6"/>
          <p:cNvSpPr txBox="1"/>
          <p:nvPr/>
        </p:nvSpPr>
        <p:spPr>
          <a:xfrm>
            <a:off x="658368" y="1508760"/>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115568" y="1508760"/>
            <a:ext cx="3200400" cy="237744"/>
          </a:xfrm>
          <a:prstGeom prst="rect">
            <a:avLst/>
          </a:prstGeom>
          <a:noFill/>
          <a:ln/>
        </p:spPr>
        <p:txBody>
          <a:bodyPr wrap="square" lIns="0" tIns="0" rIns="0" bIns="0" rtlCol="0" anchor="t"/>
          <a:lstStyle/>
          <a:p>
            <a:pPr indent="0" marL="0">
              <a:buNone/>
            </a:pPr>
            <a:r>
              <a:rPr lang="en-US" sz="1050" b="1" dirty="0">
                <a:solidFill>
                  <a:srgbClr val="0F1B2D"/>
                </a:solidFill>
                <a:latin typeface="Calibri" pitchFamily="34" charset="0"/>
                <a:ea typeface="Calibri" pitchFamily="34" charset="-122"/>
                <a:cs typeface="Calibri" pitchFamily="34" charset="-120"/>
              </a:rPr>
              <a:t>Первый взгляд</a:t>
            </a:r>
            <a:endParaRPr lang="en-US" sz="1050" dirty="0"/>
          </a:p>
        </p:txBody>
      </p:sp>
      <p:sp>
        <p:nvSpPr>
          <p:cNvPr id="10" name="Text 8"/>
          <p:cNvSpPr txBox="1"/>
          <p:nvPr/>
        </p:nvSpPr>
        <p:spPr>
          <a:xfrm>
            <a:off x="1115568" y="1746504"/>
            <a:ext cx="3200400" cy="237744"/>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кадры, проезды, доли классов</a:t>
            </a:r>
            <a:endParaRPr lang="en-US" sz="900" dirty="0"/>
          </a:p>
        </p:txBody>
      </p:sp>
      <p:sp>
        <p:nvSpPr>
          <p:cNvPr id="11" name="Text 9"/>
          <p:cNvSpPr txBox="1"/>
          <p:nvPr/>
        </p:nvSpPr>
        <p:spPr>
          <a:xfrm>
            <a:off x="658368" y="2112264"/>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115568" y="2112264"/>
            <a:ext cx="3200400" cy="237744"/>
          </a:xfrm>
          <a:prstGeom prst="rect">
            <a:avLst/>
          </a:prstGeom>
          <a:noFill/>
          <a:ln/>
        </p:spPr>
        <p:txBody>
          <a:bodyPr wrap="square" lIns="0" tIns="0" rIns="0" bIns="0" rtlCol="0" anchor="t"/>
          <a:lstStyle/>
          <a:p>
            <a:pPr indent="0" marL="0">
              <a:buNone/>
            </a:pPr>
            <a:r>
              <a:rPr lang="en-US" sz="1050" b="1" dirty="0">
                <a:solidFill>
                  <a:srgbClr val="0F1B2D"/>
                </a:solidFill>
                <a:latin typeface="Calibri" pitchFamily="34" charset="0"/>
                <a:ea typeface="Calibri" pitchFamily="34" charset="-122"/>
                <a:cs typeface="Calibri" pitchFamily="34" charset="-120"/>
              </a:rPr>
              <a:t>Сбой камеры</a:t>
            </a:r>
            <a:endParaRPr lang="en-US" sz="1050" dirty="0"/>
          </a:p>
        </p:txBody>
      </p:sp>
      <p:sp>
        <p:nvSpPr>
          <p:cNvPr id="13" name="Text 11"/>
          <p:cNvSpPr txBox="1"/>
          <p:nvPr/>
        </p:nvSpPr>
        <p:spPr>
          <a:xfrm>
            <a:off x="1115568" y="2350008"/>
            <a:ext cx="3200400" cy="237744"/>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найти и удалить испорченные кадры</a:t>
            </a:r>
            <a:endParaRPr lang="en-US" sz="900" dirty="0"/>
          </a:p>
        </p:txBody>
      </p:sp>
      <p:sp>
        <p:nvSpPr>
          <p:cNvPr id="14" name="Text 12"/>
          <p:cNvSpPr txBox="1"/>
          <p:nvPr/>
        </p:nvSpPr>
        <p:spPr>
          <a:xfrm>
            <a:off x="658368" y="2715768"/>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1115568" y="2715768"/>
            <a:ext cx="3200400" cy="237744"/>
          </a:xfrm>
          <a:prstGeom prst="rect">
            <a:avLst/>
          </a:prstGeom>
          <a:noFill/>
          <a:ln/>
        </p:spPr>
        <p:txBody>
          <a:bodyPr wrap="square" lIns="0" tIns="0" rIns="0" bIns="0" rtlCol="0" anchor="t"/>
          <a:lstStyle/>
          <a:p>
            <a:pPr indent="0" marL="0">
              <a:buNone/>
            </a:pPr>
            <a:r>
              <a:rPr lang="en-US" sz="1050" b="1" dirty="0">
                <a:solidFill>
                  <a:srgbClr val="0F1B2D"/>
                </a:solidFill>
                <a:latin typeface="Calibri" pitchFamily="34" charset="0"/>
                <a:ea typeface="Calibri" pitchFamily="34" charset="-122"/>
                <a:cs typeface="Calibri" pitchFamily="34" charset="-120"/>
              </a:rPr>
              <a:t>Разбиение</a:t>
            </a:r>
            <a:endParaRPr lang="en-US" sz="1050" dirty="0"/>
          </a:p>
        </p:txBody>
      </p:sp>
      <p:sp>
        <p:nvSpPr>
          <p:cNvPr id="16" name="Text 14"/>
          <p:cNvSpPr txBox="1"/>
          <p:nvPr/>
        </p:nvSpPr>
        <p:spPr>
          <a:xfrm>
            <a:off x="1115568" y="2953512"/>
            <a:ext cx="3200400" cy="237744"/>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 проездам; нормализация по обучающей</a:t>
            </a:r>
            <a:endParaRPr lang="en-US" sz="900" dirty="0"/>
          </a:p>
        </p:txBody>
      </p:sp>
      <p:sp>
        <p:nvSpPr>
          <p:cNvPr id="17" name="Text 15"/>
          <p:cNvSpPr txBox="1"/>
          <p:nvPr/>
        </p:nvSpPr>
        <p:spPr>
          <a:xfrm>
            <a:off x="658368" y="3319272"/>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115568" y="3319272"/>
            <a:ext cx="3200400" cy="237744"/>
          </a:xfrm>
          <a:prstGeom prst="rect">
            <a:avLst/>
          </a:prstGeom>
          <a:noFill/>
          <a:ln/>
        </p:spPr>
        <p:txBody>
          <a:bodyPr wrap="square" lIns="0" tIns="0" rIns="0" bIns="0" rtlCol="0" anchor="t"/>
          <a:lstStyle/>
          <a:p>
            <a:pPr indent="0" marL="0">
              <a:buNone/>
            </a:pPr>
            <a:r>
              <a:rPr lang="en-US" sz="1050" b="1" dirty="0">
                <a:solidFill>
                  <a:srgbClr val="0F1B2D"/>
                </a:solidFill>
                <a:latin typeface="Calibri" pitchFamily="34" charset="0"/>
                <a:ea typeface="Calibri" pitchFamily="34" charset="-122"/>
                <a:cs typeface="Calibri" pitchFamily="34" charset="-120"/>
              </a:rPr>
              <a:t>Отладка</a:t>
            </a:r>
            <a:endParaRPr lang="en-US" sz="1050" dirty="0"/>
          </a:p>
        </p:txBody>
      </p:sp>
      <p:sp>
        <p:nvSpPr>
          <p:cNvPr id="19" name="Text 17"/>
          <p:cNvSpPr txBox="1"/>
          <p:nvPr/>
        </p:nvSpPr>
        <p:spPr>
          <a:xfrm>
            <a:off x="1115568" y="3557016"/>
            <a:ext cx="3200400" cy="237744"/>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ориентир, ln 8, переобучить 64 кадра</a:t>
            </a:r>
            <a:endParaRPr lang="en-US" sz="900" dirty="0"/>
          </a:p>
        </p:txBody>
      </p:sp>
      <p:sp>
        <p:nvSpPr>
          <p:cNvPr id="20" name="Text 18"/>
          <p:cNvSpPr txBox="1"/>
          <p:nvPr/>
        </p:nvSpPr>
        <p:spPr>
          <a:xfrm>
            <a:off x="658368" y="3922776"/>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5</a:t>
            </a:r>
            <a:endParaRPr lang="en-US" sz="1500" dirty="0"/>
          </a:p>
        </p:txBody>
      </p:sp>
      <p:sp>
        <p:nvSpPr>
          <p:cNvPr id="21" name="Text 19"/>
          <p:cNvSpPr txBox="1"/>
          <p:nvPr/>
        </p:nvSpPr>
        <p:spPr>
          <a:xfrm>
            <a:off x="1115568" y="3922776"/>
            <a:ext cx="3200400" cy="237744"/>
          </a:xfrm>
          <a:prstGeom prst="rect">
            <a:avLst/>
          </a:prstGeom>
          <a:noFill/>
          <a:ln/>
        </p:spPr>
        <p:txBody>
          <a:bodyPr wrap="square" lIns="0" tIns="0" rIns="0" bIns="0" rtlCol="0" anchor="t"/>
          <a:lstStyle/>
          <a:p>
            <a:pPr indent="0" marL="0">
              <a:buNone/>
            </a:pPr>
            <a:r>
              <a:rPr lang="en-US" sz="1050" b="1" dirty="0">
                <a:solidFill>
                  <a:srgbClr val="0F1B2D"/>
                </a:solidFill>
                <a:latin typeface="Calibri" pitchFamily="34" charset="0"/>
                <a:ea typeface="Calibri" pitchFamily="34" charset="-122"/>
                <a:cs typeface="Calibri" pitchFamily="34" charset="-120"/>
              </a:rPr>
              <a:t>Базовая модель</a:t>
            </a:r>
            <a:endParaRPr lang="en-US" sz="1050" dirty="0"/>
          </a:p>
        </p:txBody>
      </p:sp>
      <p:sp>
        <p:nvSpPr>
          <p:cNvPr id="22" name="Text 20"/>
          <p:cNvSpPr txBox="1"/>
          <p:nvPr/>
        </p:nvSpPr>
        <p:spPr>
          <a:xfrm>
            <a:off x="1115568" y="4160520"/>
            <a:ext cx="3200400" cy="237744"/>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обучить, сравнить разбиения, диагноз</a:t>
            </a:r>
            <a:endParaRPr lang="en-US" sz="900" dirty="0"/>
          </a:p>
        </p:txBody>
      </p:sp>
      <p:sp>
        <p:nvSpPr>
          <p:cNvPr id="23" name="Shape 21"/>
          <p:cNvSpPr/>
          <p:nvPr/>
        </p:nvSpPr>
        <p:spPr>
          <a:xfrm>
            <a:off x="4663440" y="1097280"/>
            <a:ext cx="4023360" cy="3520440"/>
          </a:xfrm>
          <a:prstGeom prst="rect">
            <a:avLst/>
          </a:prstGeom>
          <a:solidFill>
            <a:srgbClr val="0F1B2D"/>
          </a:solidFill>
          <a:ln w="9525">
            <a:solidFill>
              <a:srgbClr val="0F1B2D"/>
            </a:solidFill>
            <a:prstDash val="solid"/>
          </a:ln>
        </p:spPr>
      </p:sp>
      <p:sp>
        <p:nvSpPr>
          <p:cNvPr id="24" name="Text 22"/>
          <p:cNvSpPr txBox="1"/>
          <p:nvPr/>
        </p:nvSpPr>
        <p:spPr>
          <a:xfrm>
            <a:off x="4864608" y="1216152"/>
            <a:ext cx="3657600" cy="182880"/>
          </a:xfrm>
          <a:prstGeom prst="rect">
            <a:avLst/>
          </a:prstGeom>
          <a:noFill/>
          <a:ln/>
        </p:spPr>
        <p:txBody>
          <a:bodyPr wrap="square" lIns="0" tIns="0" rIns="0" bIns="0" rtlCol="0" anchor="t"/>
          <a:lstStyle/>
          <a:p>
            <a:pPr indent="0" marL="0">
              <a:buNone/>
            </a:pPr>
            <a:r>
              <a:rPr lang="en-US" sz="700" b="1" spc="200" kern="0" dirty="0">
                <a:solidFill>
                  <a:srgbClr val="4C9BFF"/>
                </a:solidFill>
                <a:latin typeface="Calibri" pitchFamily="34" charset="0"/>
                <a:ea typeface="Calibri" pitchFamily="34" charset="-122"/>
                <a:cs typeface="Calibri" pitchFamily="34" charset="-120"/>
              </a:rPr>
              <a:t>ПР №5 · ВТОРОЙ ЧАС</a:t>
            </a:r>
            <a:endParaRPr lang="en-US" sz="700" dirty="0"/>
          </a:p>
        </p:txBody>
      </p:sp>
      <p:sp>
        <p:nvSpPr>
          <p:cNvPr id="25" name="Text 23"/>
          <p:cNvSpPr txBox="1"/>
          <p:nvPr/>
        </p:nvSpPr>
        <p:spPr>
          <a:xfrm>
            <a:off x="4864608" y="1508760"/>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5321808" y="1508760"/>
            <a:ext cx="32004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Аугментация</a:t>
            </a:r>
            <a:endParaRPr lang="en-US" sz="1050" dirty="0"/>
          </a:p>
        </p:txBody>
      </p:sp>
      <p:sp>
        <p:nvSpPr>
          <p:cNvPr id="27" name="Text 25"/>
          <p:cNvSpPr txBox="1"/>
          <p:nvPr/>
        </p:nvSpPr>
        <p:spPr>
          <a:xfrm>
            <a:off x="5321808" y="1746504"/>
            <a:ext cx="3200400" cy="237744"/>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сдвиг, яркость; опыт с отражением</a:t>
            </a:r>
            <a:endParaRPr lang="en-US" sz="900" dirty="0"/>
          </a:p>
        </p:txBody>
      </p:sp>
      <p:sp>
        <p:nvSpPr>
          <p:cNvPr id="28" name="Text 26"/>
          <p:cNvSpPr txBox="1"/>
          <p:nvPr/>
        </p:nvSpPr>
        <p:spPr>
          <a:xfrm>
            <a:off x="4864608" y="2112264"/>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7</a:t>
            </a:r>
            <a:endParaRPr lang="en-US" sz="1500" dirty="0"/>
          </a:p>
        </p:txBody>
      </p:sp>
      <p:sp>
        <p:nvSpPr>
          <p:cNvPr id="29" name="Text 27"/>
          <p:cNvSpPr txBox="1"/>
          <p:nvPr/>
        </p:nvSpPr>
        <p:spPr>
          <a:xfrm>
            <a:off x="5321808" y="2112264"/>
            <a:ext cx="32004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Случайный поиск</a:t>
            </a:r>
            <a:endParaRPr lang="en-US" sz="1050" dirty="0"/>
          </a:p>
        </p:txBody>
      </p:sp>
      <p:sp>
        <p:nvSpPr>
          <p:cNvPr id="30" name="Text 28"/>
          <p:cNvSpPr txBox="1"/>
          <p:nvPr/>
        </p:nvSpPr>
        <p:spPr>
          <a:xfrm>
            <a:off x="5321808" y="2350008"/>
            <a:ext cx="3200400" cy="237744"/>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3 сочетания и повтор на другом зерне</a:t>
            </a:r>
            <a:endParaRPr lang="en-US" sz="900" dirty="0"/>
          </a:p>
        </p:txBody>
      </p:sp>
      <p:sp>
        <p:nvSpPr>
          <p:cNvPr id="31" name="Text 29"/>
          <p:cNvSpPr txBox="1"/>
          <p:nvPr/>
        </p:nvSpPr>
        <p:spPr>
          <a:xfrm>
            <a:off x="4864608" y="2715768"/>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8</a:t>
            </a:r>
            <a:endParaRPr lang="en-US" sz="1500" dirty="0"/>
          </a:p>
        </p:txBody>
      </p:sp>
      <p:sp>
        <p:nvSpPr>
          <p:cNvPr id="32" name="Text 30"/>
          <p:cNvSpPr txBox="1"/>
          <p:nvPr/>
        </p:nvSpPr>
        <p:spPr>
          <a:xfrm>
            <a:off x="5321808" y="2715768"/>
            <a:ext cx="32004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Опасный класс</a:t>
            </a:r>
            <a:endParaRPr lang="en-US" sz="1050" dirty="0"/>
          </a:p>
        </p:txBody>
      </p:sp>
      <p:sp>
        <p:nvSpPr>
          <p:cNvPr id="33" name="Text 31"/>
          <p:cNvSpPr txBox="1"/>
          <p:nvPr/>
        </p:nvSpPr>
        <p:spPr>
          <a:xfrm>
            <a:off x="5321808" y="2953512"/>
            <a:ext cx="3200400" cy="237744"/>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вес ошибки «Стоп», выбор модели</a:t>
            </a:r>
            <a:endParaRPr lang="en-US" sz="900" dirty="0"/>
          </a:p>
        </p:txBody>
      </p:sp>
      <p:sp>
        <p:nvSpPr>
          <p:cNvPr id="34" name="Text 32"/>
          <p:cNvSpPr txBox="1"/>
          <p:nvPr/>
        </p:nvSpPr>
        <p:spPr>
          <a:xfrm>
            <a:off x="4864608" y="3319272"/>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9</a:t>
            </a:r>
            <a:endParaRPr lang="en-US" sz="1500" dirty="0"/>
          </a:p>
        </p:txBody>
      </p:sp>
      <p:sp>
        <p:nvSpPr>
          <p:cNvPr id="35" name="Text 33"/>
          <p:cNvSpPr txBox="1"/>
          <p:nvPr/>
        </p:nvSpPr>
        <p:spPr>
          <a:xfrm>
            <a:off x="5321808" y="3319272"/>
            <a:ext cx="32004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Тест один раз</a:t>
            </a:r>
            <a:endParaRPr lang="en-US" sz="1050" dirty="0"/>
          </a:p>
        </p:txBody>
      </p:sp>
      <p:sp>
        <p:nvSpPr>
          <p:cNvPr id="36" name="Text 34"/>
          <p:cNvSpPr txBox="1"/>
          <p:nvPr/>
        </p:nvSpPr>
        <p:spPr>
          <a:xfrm>
            <a:off x="5321808" y="3557016"/>
            <a:ext cx="3200400" cy="237744"/>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метрики, ошибки, голосование по проезду</a:t>
            </a:r>
            <a:endParaRPr lang="en-US" sz="900" dirty="0"/>
          </a:p>
        </p:txBody>
      </p:sp>
      <p:sp>
        <p:nvSpPr>
          <p:cNvPr id="37" name="Text 35"/>
          <p:cNvSpPr txBox="1"/>
          <p:nvPr/>
        </p:nvSpPr>
        <p:spPr>
          <a:xfrm>
            <a:off x="4864608" y="3922776"/>
            <a:ext cx="411480" cy="45720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10</a:t>
            </a:r>
            <a:endParaRPr lang="en-US" sz="1500" dirty="0"/>
          </a:p>
        </p:txBody>
      </p:sp>
      <p:sp>
        <p:nvSpPr>
          <p:cNvPr id="38" name="Text 36"/>
          <p:cNvSpPr txBox="1"/>
          <p:nvPr/>
        </p:nvSpPr>
        <p:spPr>
          <a:xfrm>
            <a:off x="5321808" y="3922776"/>
            <a:ext cx="32004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Отчет</a:t>
            </a:r>
            <a:endParaRPr lang="en-US" sz="1050" dirty="0"/>
          </a:p>
        </p:txBody>
      </p:sp>
      <p:sp>
        <p:nvSpPr>
          <p:cNvPr id="39" name="Text 37"/>
          <p:cNvSpPr txBox="1"/>
          <p:nvPr/>
        </p:nvSpPr>
        <p:spPr>
          <a:xfrm>
            <a:off x="5321808" y="4160520"/>
            <a:ext cx="3200400" cy="237744"/>
          </a:xfrm>
          <a:prstGeom prst="rect">
            <a:avLst/>
          </a:prstGeom>
          <a:noFill/>
          <a:ln/>
        </p:spPr>
        <p:txBody>
          <a:bodyPr wrap="square" lIns="0" tIns="0" rIns="0" bIns="0" rtlCol="0" anchor="t"/>
          <a:lstStyle/>
          <a:p>
            <a:pPr indent="0" marL="0">
              <a:buNone/>
            </a:pPr>
            <a:r>
              <a:rPr lang="en-US" sz="900" dirty="0">
                <a:solidFill>
                  <a:srgbClr val="C9CDD2"/>
                </a:solidFill>
                <a:latin typeface="Calibri" pitchFamily="34" charset="0"/>
                <a:ea typeface="Calibri" pitchFamily="34" charset="-122"/>
                <a:cs typeface="Calibri" pitchFamily="34" charset="-120"/>
              </a:rPr>
              <a:t>шесть разделов и журнал опытов</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ГОТОВЫЕ ФУНКЦИИ</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Что уже готово</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457200" y="1097280"/>
            <a:ext cx="4846320" cy="2788920"/>
          </a:xfrm>
          <a:prstGeom prst="rect">
            <a:avLst/>
          </a:prstGeom>
          <a:solidFill>
            <a:srgbClr val="0F1B2D"/>
          </a:solidFill>
          <a:ln w="9525">
            <a:solidFill>
              <a:srgbClr val="0F1B2D"/>
            </a:solidFill>
            <a:prstDash val="solid"/>
          </a:ln>
        </p:spPr>
      </p:sp>
      <p:sp>
        <p:nvSpPr>
          <p:cNvPr id="7" name="Text 5"/>
          <p:cNvSpPr txBox="1"/>
          <p:nvPr/>
        </p:nvSpPr>
        <p:spPr>
          <a:xfrm>
            <a:off x="685800" y="1252728"/>
            <a:ext cx="4389120" cy="182880"/>
          </a:xfrm>
          <a:prstGeom prst="rect">
            <a:avLst/>
          </a:prstGeom>
          <a:noFill/>
          <a:ln/>
        </p:spPr>
        <p:txBody>
          <a:bodyPr wrap="square" lIns="0" tIns="0" rIns="0" bIns="0" rtlCol="0" anchor="t"/>
          <a:lstStyle/>
          <a:p>
            <a:pPr indent="0" marL="0">
              <a:buNone/>
            </a:pPr>
            <a:r>
              <a:rPr lang="en-US" sz="700" b="1" spc="200" kern="0" dirty="0">
                <a:solidFill>
                  <a:srgbClr val="4C9BFF"/>
                </a:solidFill>
                <a:latin typeface="Calibri" pitchFamily="34" charset="0"/>
                <a:ea typeface="Calibri" pitchFamily="34" charset="-122"/>
                <a:cs typeface="Calibri" pitchFamily="34" charset="-120"/>
              </a:rPr>
              <a:t>ГОТОВЫЕ ЯЧЕЙКИ НОУТБУКА</a:t>
            </a:r>
            <a:endParaRPr lang="en-US" sz="700" dirty="0"/>
          </a:p>
        </p:txBody>
      </p:sp>
      <p:sp>
        <p:nvSpPr>
          <p:cNvPr id="8" name="Text 6"/>
          <p:cNvSpPr txBox="1"/>
          <p:nvPr/>
        </p:nvSpPr>
        <p:spPr>
          <a:xfrm>
            <a:off x="685800" y="1554480"/>
            <a:ext cx="4480560" cy="2240280"/>
          </a:xfrm>
          <a:prstGeom prst="rect">
            <a:avLst/>
          </a:prstGeom>
          <a:noFill/>
          <a:ln/>
        </p:spPr>
        <p:txBody>
          <a:bodyPr wrap="square" lIns="0" tIns="0" rIns="0" bIns="0" rtlCol="0" anchor="t"/>
          <a:lstStyle/>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model = make_cnn(width=32)</a:t>
            </a:r>
            <a:endParaRPr lang="en-US" sz="900" dirty="0"/>
          </a:p>
          <a:p>
            <a:pPr indent="0" marL="0">
              <a:spcAft>
                <a:spcPts val="200"/>
              </a:spcAft>
              <a:buNone/>
            </a:pPr>
            <a:r>
              <a:rPr lang="en-US" sz="900" dirty="0">
                <a:solidFill>
                  <a:srgbClr val="C9CDD2"/>
                </a:solidFill>
                <a:latin typeface="Courier New" pitchFamily="34" charset="0"/>
                <a:ea typeface="Courier New" pitchFamily="34" charset="-122"/>
                <a:cs typeface="Courier New" pitchFamily="34" charset="-120"/>
              </a:rPr>
              <a:t># 140 776 параметров</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hist = train_model(model, X_tr, y_tr,</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    X_va, y_va, NORM, epochs=20,</a:t>
            </a:r>
            <a:endParaRPr lang="en-US" sz="900" dirty="0"/>
          </a:p>
          <a:p>
            <a:pPr indent="0" marL="0">
              <a:spcAft>
                <a:spcPts val="200"/>
              </a:spcAft>
              <a:buNone/>
            </a:pPr>
            <a:r>
              <a:rPr lang="en-US" sz="900" dirty="0">
                <a:solidFill>
                  <a:srgbClr val="4C9BFF"/>
                </a:solidFill>
                <a:latin typeface="Courier New" pitchFamily="34" charset="0"/>
                <a:ea typeface="Courier New" pitchFamily="34" charset="-122"/>
                <a:cs typeface="Courier New" pitchFamily="34" charset="-120"/>
              </a:rPr>
              <a:t>    augment=augment)</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log("аугментация", hist, model, ...)</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show_journal()</a:t>
            </a:r>
            <a:endParaRPr lang="en-US" sz="900" dirty="0"/>
          </a:p>
          <a:p>
            <a:pPr indent="0" marL="0">
              <a:spcAft>
                <a:spcPts val="200"/>
              </a:spcAft>
              <a:buNone/>
            </a:pPr>
            <a:r>
              <a:rPr lang="en-US" sz="900" dirty="0">
                <a:solidFill>
                  <a:srgbClr val="FFFFFF"/>
                </a:solidFill>
                <a:latin typeface="Courier New" pitchFamily="34" charset="0"/>
                <a:ea typeface="Courier New" pitchFamily="34" charset="-122"/>
                <a:cs typeface="Courier New" pitchFamily="34" charset="-120"/>
              </a:rPr>
              <a:t>scores(y_va, predict(model, X_va, NORM))</a:t>
            </a:r>
            <a:endParaRPr lang="en-US" sz="900" dirty="0"/>
          </a:p>
        </p:txBody>
      </p:sp>
      <p:sp>
        <p:nvSpPr>
          <p:cNvPr id="9" name="Text 7"/>
          <p:cNvSpPr txBox="1"/>
          <p:nvPr/>
        </p:nvSpPr>
        <p:spPr>
          <a:xfrm>
            <a:off x="5577840" y="114300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10" name="Text 8"/>
          <p:cNvSpPr txBox="1"/>
          <p:nvPr/>
        </p:nvSpPr>
        <p:spPr>
          <a:xfrm>
            <a:off x="6080760" y="1161288"/>
            <a:ext cx="27432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train_model</a:t>
            </a:r>
            <a:endParaRPr lang="en-US" sz="1100" dirty="0"/>
          </a:p>
        </p:txBody>
      </p:sp>
      <p:sp>
        <p:nvSpPr>
          <p:cNvPr id="11" name="Text 9"/>
          <p:cNvSpPr txBox="1"/>
          <p:nvPr/>
        </p:nvSpPr>
        <p:spPr>
          <a:xfrm>
            <a:off x="6080760" y="1453896"/>
            <a:ext cx="27432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AdamW, косинусное расписание, ранняя остановка по F-мере</a:t>
            </a:r>
            <a:endParaRPr lang="en-US" sz="900" dirty="0"/>
          </a:p>
        </p:txBody>
      </p:sp>
      <p:sp>
        <p:nvSpPr>
          <p:cNvPr id="12" name="Text 10"/>
          <p:cNvSpPr txBox="1"/>
          <p:nvPr/>
        </p:nvSpPr>
        <p:spPr>
          <a:xfrm>
            <a:off x="5577840" y="192024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3" name="Text 11"/>
          <p:cNvSpPr txBox="1"/>
          <p:nvPr/>
        </p:nvSpPr>
        <p:spPr>
          <a:xfrm>
            <a:off x="6080760" y="1938528"/>
            <a:ext cx="27432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Пишете сами</a:t>
            </a:r>
            <a:endParaRPr lang="en-US" sz="1100" dirty="0"/>
          </a:p>
        </p:txBody>
      </p:sp>
      <p:sp>
        <p:nvSpPr>
          <p:cNvPr id="14" name="Text 12"/>
          <p:cNvSpPr txBox="1"/>
          <p:nvPr/>
        </p:nvSpPr>
        <p:spPr>
          <a:xfrm>
            <a:off x="6080760" y="2231136"/>
            <a:ext cx="27432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анализ, очистка, разбиение, аугментация, опыты, тест, отчет</a:t>
            </a:r>
            <a:endParaRPr lang="en-US" sz="900" dirty="0"/>
          </a:p>
        </p:txBody>
      </p:sp>
      <p:sp>
        <p:nvSpPr>
          <p:cNvPr id="15" name="Text 13"/>
          <p:cNvSpPr txBox="1"/>
          <p:nvPr/>
        </p:nvSpPr>
        <p:spPr>
          <a:xfrm>
            <a:off x="5577840" y="26974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6" name="Text 14"/>
          <p:cNvSpPr txBox="1"/>
          <p:nvPr/>
        </p:nvSpPr>
        <p:spPr>
          <a:xfrm>
            <a:off x="6080760" y="2715768"/>
            <a:ext cx="274320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По желанию</a:t>
            </a:r>
            <a:endParaRPr lang="en-US" sz="1100" dirty="0"/>
          </a:p>
        </p:txBody>
      </p:sp>
      <p:sp>
        <p:nvSpPr>
          <p:cNvPr id="17" name="Text 15"/>
          <p:cNvSpPr txBox="1"/>
          <p:nvPr/>
        </p:nvSpPr>
        <p:spPr>
          <a:xfrm>
            <a:off x="6080760" y="3008376"/>
            <a:ext cx="274320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make_resnet18 с весами ImageNet из Б2.5</a:t>
            </a:r>
            <a:endParaRPr lang="en-US" sz="900" dirty="0"/>
          </a:p>
        </p:txBody>
      </p:sp>
      <p:sp>
        <p:nvSpPr>
          <p:cNvPr id="18" name="Shape 16"/>
          <p:cNvSpPr/>
          <p:nvPr/>
        </p:nvSpPr>
        <p:spPr>
          <a:xfrm>
            <a:off x="457200" y="4069080"/>
            <a:ext cx="8229600" cy="548640"/>
          </a:xfrm>
          <a:prstGeom prst="rect">
            <a:avLst/>
          </a:prstGeom>
          <a:solidFill>
            <a:srgbClr val="0F1B2D"/>
          </a:solidFill>
          <a:ln w="9525">
            <a:solidFill>
              <a:srgbClr val="0F1B2D"/>
            </a:solidFill>
            <a:prstDash val="solid"/>
          </a:ln>
        </p:spPr>
      </p:sp>
      <p:sp>
        <p:nvSpPr>
          <p:cNvPr id="19" name="Shape 17"/>
          <p:cNvSpPr/>
          <p:nvPr/>
        </p:nvSpPr>
        <p:spPr>
          <a:xfrm>
            <a:off x="658368" y="4142232"/>
            <a:ext cx="457200" cy="402336"/>
          </a:xfrm>
          <a:prstGeom prst="hexagon">
            <a:avLst/>
          </a:prstGeom>
          <a:solidFill>
            <a:srgbClr val="4C9BFF"/>
          </a:solidFill>
          <a:ln w="6350">
            <a:solidFill>
              <a:srgbClr val="4C9BFF"/>
            </a:solidFill>
            <a:prstDash val="solid"/>
          </a:ln>
        </p:spPr>
      </p:sp>
      <p:sp>
        <p:nvSpPr>
          <p:cNvPr id="20" name="Text 18"/>
          <p:cNvSpPr txBox="1"/>
          <p:nvPr/>
        </p:nvSpPr>
        <p:spPr>
          <a:xfrm>
            <a:off x="658368" y="414223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21" name="Text 19"/>
          <p:cNvSpPr txBox="1"/>
          <p:nvPr/>
        </p:nvSpPr>
        <p:spPr>
          <a:xfrm>
            <a:off x="1280160" y="4069080"/>
            <a:ext cx="722376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Правила: </a:t>
            </a:r>
            <a:pPr indent="0" marL="0">
              <a:buNone/>
            </a:pPr>
            <a:r>
              <a:rPr lang="en-US" sz="1050" dirty="0">
                <a:solidFill>
                  <a:srgbClr val="C9CDD2"/>
                </a:solidFill>
                <a:latin typeface="Calibri" pitchFamily="34" charset="0"/>
                <a:ea typeface="Calibri" pitchFamily="34" charset="-122"/>
                <a:cs typeface="Calibri" pitchFamily="34" charset="-120"/>
              </a:rPr>
              <a:t>SEED = 42; тест – только в шаге 9 и один раз; не больше 8 обучений в ПР №5.</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ОЦЕНИВАНИЕ</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По 10 баллов</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457200" y="1097280"/>
            <a:ext cx="2651760" cy="2514600"/>
          </a:xfrm>
          <a:prstGeom prst="rect">
            <a:avLst/>
          </a:prstGeom>
          <a:solidFill>
            <a:srgbClr val="FFFFFF"/>
          </a:solidFill>
          <a:ln w="9525">
            <a:solidFill>
              <a:srgbClr val="E1E3E5"/>
            </a:solidFill>
            <a:prstDash val="solid"/>
          </a:ln>
        </p:spPr>
      </p:sp>
      <p:sp>
        <p:nvSpPr>
          <p:cNvPr id="7" name="Text 5"/>
          <p:cNvSpPr txBox="1"/>
          <p:nvPr/>
        </p:nvSpPr>
        <p:spPr>
          <a:xfrm>
            <a:off x="658368" y="1216152"/>
            <a:ext cx="2286000" cy="274320"/>
          </a:xfrm>
          <a:prstGeom prst="rect">
            <a:avLst/>
          </a:prstGeom>
          <a:noFill/>
          <a:ln/>
        </p:spPr>
        <p:txBody>
          <a:bodyPr wrap="square" lIns="0" tIns="0" rIns="0" bIns="0" rtlCol="0" anchor="t"/>
          <a:lstStyle/>
          <a:p>
            <a:pPr indent="0" marL="0">
              <a:buNone/>
            </a:pPr>
            <a:r>
              <a:rPr lang="en-US" sz="1400" b="1" dirty="0">
                <a:solidFill>
                  <a:srgbClr val="0F1B2D"/>
                </a:solidFill>
                <a:latin typeface="Cambria" pitchFamily="34" charset="0"/>
                <a:ea typeface="Cambria" pitchFamily="34" charset="-122"/>
                <a:cs typeface="Cambria" pitchFamily="34" charset="-120"/>
              </a:rPr>
              <a:t>ПР №4</a:t>
            </a:r>
            <a:endParaRPr lang="en-US" sz="1400" dirty="0"/>
          </a:p>
        </p:txBody>
      </p:sp>
      <p:sp>
        <p:nvSpPr>
          <p:cNvPr id="8" name="Text 6"/>
          <p:cNvSpPr txBox="1"/>
          <p:nvPr/>
        </p:nvSpPr>
        <p:spPr>
          <a:xfrm>
            <a:off x="658368" y="1627632"/>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9" name="Text 7"/>
          <p:cNvSpPr txBox="1"/>
          <p:nvPr/>
        </p:nvSpPr>
        <p:spPr>
          <a:xfrm>
            <a:off x="1024128" y="1627632"/>
            <a:ext cx="1965960" cy="365760"/>
          </a:xfrm>
          <a:prstGeom prst="rect">
            <a:avLst/>
          </a:prstGeom>
          <a:noFill/>
          <a:ln/>
        </p:spPr>
        <p:txBody>
          <a:bodyPr wrap="square" lIns="0" tIns="0" rIns="0" bIns="0" rtlCol="0" anchor="ctr"/>
          <a:lstStyle/>
          <a:p>
            <a:pPr indent="0" marL="0">
              <a:buNone/>
            </a:pPr>
            <a:r>
              <a:rPr lang="en-US" sz="950" dirty="0">
                <a:solidFill>
                  <a:srgbClr val="0F1B2D"/>
                </a:solidFill>
                <a:latin typeface="Calibri" pitchFamily="34" charset="0"/>
                <a:ea typeface="Calibri" pitchFamily="34" charset="-122"/>
                <a:cs typeface="Calibri" pitchFamily="34" charset="-120"/>
              </a:rPr>
              <a:t>осмотр и очистка</a:t>
            </a:r>
            <a:endParaRPr lang="en-US" sz="950" dirty="0"/>
          </a:p>
        </p:txBody>
      </p:sp>
      <p:sp>
        <p:nvSpPr>
          <p:cNvPr id="10" name="Text 8"/>
          <p:cNvSpPr txBox="1"/>
          <p:nvPr/>
        </p:nvSpPr>
        <p:spPr>
          <a:xfrm>
            <a:off x="658368" y="2103120"/>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1024128" y="2103120"/>
            <a:ext cx="1965960" cy="365760"/>
          </a:xfrm>
          <a:prstGeom prst="rect">
            <a:avLst/>
          </a:prstGeom>
          <a:noFill/>
          <a:ln/>
        </p:spPr>
        <p:txBody>
          <a:bodyPr wrap="square" lIns="0" tIns="0" rIns="0" bIns="0" rtlCol="0" anchor="ctr"/>
          <a:lstStyle/>
          <a:p>
            <a:pPr indent="0" marL="0">
              <a:buNone/>
            </a:pPr>
            <a:r>
              <a:rPr lang="en-US" sz="950" dirty="0">
                <a:solidFill>
                  <a:srgbClr val="0F1B2D"/>
                </a:solidFill>
                <a:latin typeface="Calibri" pitchFamily="34" charset="0"/>
                <a:ea typeface="Calibri" pitchFamily="34" charset="-122"/>
                <a:cs typeface="Calibri" pitchFamily="34" charset="-120"/>
              </a:rPr>
              <a:t>честное разбиение и нормализация</a:t>
            </a:r>
            <a:endParaRPr lang="en-US" sz="950" dirty="0"/>
          </a:p>
        </p:txBody>
      </p:sp>
      <p:sp>
        <p:nvSpPr>
          <p:cNvPr id="12" name="Text 10"/>
          <p:cNvSpPr txBox="1"/>
          <p:nvPr/>
        </p:nvSpPr>
        <p:spPr>
          <a:xfrm>
            <a:off x="658368" y="2578608"/>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1024128" y="2578608"/>
            <a:ext cx="1965960" cy="365760"/>
          </a:xfrm>
          <a:prstGeom prst="rect">
            <a:avLst/>
          </a:prstGeom>
          <a:noFill/>
          <a:ln/>
        </p:spPr>
        <p:txBody>
          <a:bodyPr wrap="square" lIns="0" tIns="0" rIns="0" bIns="0" rtlCol="0" anchor="ctr"/>
          <a:lstStyle/>
          <a:p>
            <a:pPr indent="0" marL="0">
              <a:buNone/>
            </a:pPr>
            <a:r>
              <a:rPr lang="en-US" sz="950" dirty="0">
                <a:solidFill>
                  <a:srgbClr val="0F1B2D"/>
                </a:solidFill>
                <a:latin typeface="Calibri" pitchFamily="34" charset="0"/>
                <a:ea typeface="Calibri" pitchFamily="34" charset="-122"/>
                <a:cs typeface="Calibri" pitchFamily="34" charset="-120"/>
              </a:rPr>
              <a:t>отладка, базовая модель, диагноз</a:t>
            </a:r>
            <a:endParaRPr lang="en-US" sz="950" dirty="0"/>
          </a:p>
        </p:txBody>
      </p:sp>
      <p:sp>
        <p:nvSpPr>
          <p:cNvPr id="14" name="Text 12"/>
          <p:cNvSpPr txBox="1"/>
          <p:nvPr/>
        </p:nvSpPr>
        <p:spPr>
          <a:xfrm>
            <a:off x="658368" y="3054096"/>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1</a:t>
            </a:r>
            <a:endParaRPr lang="en-US" sz="1500" dirty="0"/>
          </a:p>
        </p:txBody>
      </p:sp>
      <p:sp>
        <p:nvSpPr>
          <p:cNvPr id="15" name="Text 13"/>
          <p:cNvSpPr txBox="1"/>
          <p:nvPr/>
        </p:nvSpPr>
        <p:spPr>
          <a:xfrm>
            <a:off x="1024128" y="3054096"/>
            <a:ext cx="1965960" cy="365760"/>
          </a:xfrm>
          <a:prstGeom prst="rect">
            <a:avLst/>
          </a:prstGeom>
          <a:noFill/>
          <a:ln/>
        </p:spPr>
        <p:txBody>
          <a:bodyPr wrap="square" lIns="0" tIns="0" rIns="0" bIns="0" rtlCol="0" anchor="ctr"/>
          <a:lstStyle/>
          <a:p>
            <a:pPr indent="0" marL="0">
              <a:buNone/>
            </a:pPr>
            <a:r>
              <a:rPr lang="en-US" sz="950" dirty="0">
                <a:solidFill>
                  <a:srgbClr val="0F1B2D"/>
                </a:solidFill>
                <a:latin typeface="Calibri" pitchFamily="34" charset="0"/>
                <a:ea typeface="Calibri" pitchFamily="34" charset="-122"/>
                <a:cs typeface="Calibri" pitchFamily="34" charset="-120"/>
              </a:rPr>
              <a:t>ответы на вопросы и выводы</a:t>
            </a:r>
            <a:endParaRPr lang="en-US" sz="950" dirty="0"/>
          </a:p>
        </p:txBody>
      </p:sp>
      <p:sp>
        <p:nvSpPr>
          <p:cNvPr id="16" name="Shape 14"/>
          <p:cNvSpPr/>
          <p:nvPr/>
        </p:nvSpPr>
        <p:spPr>
          <a:xfrm>
            <a:off x="3246120" y="1097280"/>
            <a:ext cx="2651760" cy="2514600"/>
          </a:xfrm>
          <a:prstGeom prst="rect">
            <a:avLst/>
          </a:prstGeom>
          <a:solidFill>
            <a:srgbClr val="0F1B2D"/>
          </a:solidFill>
          <a:ln w="9525">
            <a:solidFill>
              <a:srgbClr val="0F1B2D"/>
            </a:solidFill>
            <a:prstDash val="solid"/>
          </a:ln>
        </p:spPr>
      </p:sp>
      <p:sp>
        <p:nvSpPr>
          <p:cNvPr id="17" name="Text 15"/>
          <p:cNvSpPr txBox="1"/>
          <p:nvPr/>
        </p:nvSpPr>
        <p:spPr>
          <a:xfrm>
            <a:off x="3447288" y="1216152"/>
            <a:ext cx="2286000" cy="274320"/>
          </a:xfrm>
          <a:prstGeom prst="rect">
            <a:avLst/>
          </a:prstGeom>
          <a:noFill/>
          <a:ln/>
        </p:spPr>
        <p:txBody>
          <a:bodyPr wrap="square" lIns="0" tIns="0" rIns="0" bIns="0" rtlCol="0" anchor="t"/>
          <a:lstStyle/>
          <a:p>
            <a:pPr indent="0" marL="0">
              <a:buNone/>
            </a:pPr>
            <a:r>
              <a:rPr lang="en-US" sz="1400" b="1" dirty="0">
                <a:solidFill>
                  <a:srgbClr val="4C9BFF"/>
                </a:solidFill>
                <a:latin typeface="Cambria" pitchFamily="34" charset="0"/>
                <a:ea typeface="Cambria" pitchFamily="34" charset="-122"/>
                <a:cs typeface="Cambria" pitchFamily="34" charset="-120"/>
              </a:rPr>
              <a:t>ПР №5</a:t>
            </a:r>
            <a:endParaRPr lang="en-US" sz="1400" dirty="0"/>
          </a:p>
        </p:txBody>
      </p:sp>
      <p:sp>
        <p:nvSpPr>
          <p:cNvPr id="18" name="Text 16"/>
          <p:cNvSpPr txBox="1"/>
          <p:nvPr/>
        </p:nvSpPr>
        <p:spPr>
          <a:xfrm>
            <a:off x="3447288" y="1627632"/>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3813048" y="1627632"/>
            <a:ext cx="1965960"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аугментация и опыт с отражением</a:t>
            </a:r>
            <a:endParaRPr lang="en-US" sz="950" dirty="0"/>
          </a:p>
        </p:txBody>
      </p:sp>
      <p:sp>
        <p:nvSpPr>
          <p:cNvPr id="20" name="Text 18"/>
          <p:cNvSpPr txBox="1"/>
          <p:nvPr/>
        </p:nvSpPr>
        <p:spPr>
          <a:xfrm>
            <a:off x="3447288" y="2103120"/>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3813048" y="2103120"/>
            <a:ext cx="1965960"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случайный поиск, шум, опасный класс</a:t>
            </a:r>
            <a:endParaRPr lang="en-US" sz="950" dirty="0"/>
          </a:p>
        </p:txBody>
      </p:sp>
      <p:sp>
        <p:nvSpPr>
          <p:cNvPr id="22" name="Text 20"/>
          <p:cNvSpPr txBox="1"/>
          <p:nvPr/>
        </p:nvSpPr>
        <p:spPr>
          <a:xfrm>
            <a:off x="3447288" y="2578608"/>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2</a:t>
            </a:r>
            <a:endParaRPr lang="en-US" sz="1500" dirty="0"/>
          </a:p>
        </p:txBody>
      </p:sp>
      <p:sp>
        <p:nvSpPr>
          <p:cNvPr id="23" name="Text 21"/>
          <p:cNvSpPr txBox="1"/>
          <p:nvPr/>
        </p:nvSpPr>
        <p:spPr>
          <a:xfrm>
            <a:off x="3813048" y="2578608"/>
            <a:ext cx="1965960"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тест один раз, голосование по проезду</a:t>
            </a:r>
            <a:endParaRPr lang="en-US" sz="950" dirty="0"/>
          </a:p>
        </p:txBody>
      </p:sp>
      <p:sp>
        <p:nvSpPr>
          <p:cNvPr id="24" name="Text 22"/>
          <p:cNvSpPr txBox="1"/>
          <p:nvPr/>
        </p:nvSpPr>
        <p:spPr>
          <a:xfrm>
            <a:off x="3447288" y="3054096"/>
            <a:ext cx="320040" cy="365760"/>
          </a:xfrm>
          <a:prstGeom prst="rect">
            <a:avLst/>
          </a:prstGeom>
          <a:noFill/>
          <a:ln/>
        </p:spPr>
        <p:txBody>
          <a:bodyPr wrap="square" lIns="0" tIns="0" rIns="0" bIns="0" rtlCol="0" anchor="ctr"/>
          <a:lstStyle/>
          <a:p>
            <a:pPr indent="0" marL="0">
              <a:buNone/>
            </a:pPr>
            <a:r>
              <a:rPr lang="en-US" sz="1500" b="1" dirty="0">
                <a:solidFill>
                  <a:srgbClr val="4C9BFF"/>
                </a:solidFill>
                <a:latin typeface="Cambria" pitchFamily="34" charset="0"/>
                <a:ea typeface="Cambria" pitchFamily="34" charset="-122"/>
                <a:cs typeface="Cambria" pitchFamily="34" charset="-120"/>
              </a:rPr>
              <a:t>2</a:t>
            </a:r>
            <a:endParaRPr lang="en-US" sz="1500" dirty="0"/>
          </a:p>
        </p:txBody>
      </p:sp>
      <p:sp>
        <p:nvSpPr>
          <p:cNvPr id="25" name="Text 23"/>
          <p:cNvSpPr txBox="1"/>
          <p:nvPr/>
        </p:nvSpPr>
        <p:spPr>
          <a:xfrm>
            <a:off x="3813048" y="3054096"/>
            <a:ext cx="1965960"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отчет и журнал опытов</a:t>
            </a:r>
            <a:endParaRPr lang="en-US" sz="950" dirty="0"/>
          </a:p>
        </p:txBody>
      </p:sp>
      <p:sp>
        <p:nvSpPr>
          <p:cNvPr id="26" name="Shape 24"/>
          <p:cNvSpPr/>
          <p:nvPr/>
        </p:nvSpPr>
        <p:spPr>
          <a:xfrm>
            <a:off x="6035040" y="1097280"/>
            <a:ext cx="2651760" cy="2514600"/>
          </a:xfrm>
          <a:prstGeom prst="rect">
            <a:avLst/>
          </a:prstGeom>
          <a:solidFill>
            <a:srgbClr val="EAF2FF"/>
          </a:solidFill>
          <a:ln w="9525">
            <a:solidFill>
              <a:srgbClr val="E1E3E5"/>
            </a:solidFill>
            <a:prstDash val="solid"/>
          </a:ln>
        </p:spPr>
      </p:sp>
      <p:sp>
        <p:nvSpPr>
          <p:cNvPr id="27" name="Text 25"/>
          <p:cNvSpPr txBox="1"/>
          <p:nvPr/>
        </p:nvSpPr>
        <p:spPr>
          <a:xfrm>
            <a:off x="6217920" y="1207008"/>
            <a:ext cx="2377440" cy="411480"/>
          </a:xfrm>
          <a:prstGeom prst="rect">
            <a:avLst/>
          </a:prstGeom>
          <a:noFill/>
          <a:ln/>
        </p:spPr>
        <p:txBody>
          <a:bodyPr wrap="square" lIns="0" tIns="0" rIns="0" bIns="0" rtlCol="0" anchor="t"/>
          <a:lstStyle/>
          <a:p>
            <a:pPr indent="0" marL="0">
              <a:buNone/>
            </a:pPr>
            <a:r>
              <a:rPr lang="en-US" sz="2000" b="1" dirty="0">
                <a:solidFill>
                  <a:srgbClr val="0F1B2D"/>
                </a:solidFill>
                <a:latin typeface="Cambria" pitchFamily="34" charset="0"/>
                <a:ea typeface="Cambria" pitchFamily="34" charset="-122"/>
                <a:cs typeface="Cambria" pitchFamily="34" charset="-120"/>
              </a:rPr>
              <a:t>9–10 «5»</a:t>
            </a:r>
            <a:endParaRPr lang="en-US" sz="2000" dirty="0"/>
          </a:p>
        </p:txBody>
      </p:sp>
      <p:sp>
        <p:nvSpPr>
          <p:cNvPr id="28" name="Text 26"/>
          <p:cNvSpPr txBox="1"/>
          <p:nvPr/>
        </p:nvSpPr>
        <p:spPr>
          <a:xfrm>
            <a:off x="6217920" y="1645920"/>
            <a:ext cx="2377440" cy="1892808"/>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7–8 – «4», 5–6 – «3», меньше 5 – «2». Повышенная сложность может вернуть один потерянный балл.</a:t>
            </a:r>
            <a:endParaRPr lang="en-US" sz="900" dirty="0"/>
          </a:p>
        </p:txBody>
      </p:sp>
      <p:sp>
        <p:nvSpPr>
          <p:cNvPr id="29" name="Shape 27"/>
          <p:cNvSpPr/>
          <p:nvPr/>
        </p:nvSpPr>
        <p:spPr>
          <a:xfrm>
            <a:off x="457200" y="3794760"/>
            <a:ext cx="8229600" cy="777240"/>
          </a:xfrm>
          <a:prstGeom prst="rect">
            <a:avLst/>
          </a:prstGeom>
          <a:solidFill>
            <a:srgbClr val="0F1B2D"/>
          </a:solidFill>
          <a:ln w="9525">
            <a:solidFill>
              <a:srgbClr val="0F1B2D"/>
            </a:solidFill>
            <a:prstDash val="solid"/>
          </a:ln>
        </p:spPr>
      </p:sp>
      <p:sp>
        <p:nvSpPr>
          <p:cNvPr id="30" name="Shape 28"/>
          <p:cNvSpPr/>
          <p:nvPr/>
        </p:nvSpPr>
        <p:spPr>
          <a:xfrm>
            <a:off x="658368" y="3982212"/>
            <a:ext cx="457200" cy="402336"/>
          </a:xfrm>
          <a:prstGeom prst="hexagon">
            <a:avLst/>
          </a:prstGeom>
          <a:solidFill>
            <a:srgbClr val="4C9BFF"/>
          </a:solidFill>
          <a:ln w="6350">
            <a:solidFill>
              <a:srgbClr val="4C9BFF"/>
            </a:solidFill>
            <a:prstDash val="solid"/>
          </a:ln>
        </p:spPr>
      </p:sp>
      <p:sp>
        <p:nvSpPr>
          <p:cNvPr id="31" name="Text 29"/>
          <p:cNvSpPr txBox="1"/>
          <p:nvPr/>
        </p:nvSpPr>
        <p:spPr>
          <a:xfrm>
            <a:off x="658368" y="398221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a:t>
            </a:r>
            <a:endParaRPr lang="en-US" sz="900" dirty="0"/>
          </a:p>
        </p:txBody>
      </p:sp>
      <p:sp>
        <p:nvSpPr>
          <p:cNvPr id="32" name="Text 30"/>
          <p:cNvSpPr txBox="1"/>
          <p:nvPr/>
        </p:nvSpPr>
        <p:spPr>
          <a:xfrm>
            <a:off x="1280160" y="3794760"/>
            <a:ext cx="7223760" cy="7772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Снимается балл: </a:t>
            </a:r>
            <a:pPr indent="0" marL="0">
              <a:buNone/>
            </a:pPr>
            <a:r>
              <a:rPr lang="en-US" sz="1050" dirty="0">
                <a:solidFill>
                  <a:srgbClr val="C9CDD2"/>
                </a:solidFill>
                <a:latin typeface="Calibri" pitchFamily="34" charset="0"/>
                <a:ea typeface="Calibri" pitchFamily="34" charset="-122"/>
                <a:cs typeface="Calibri" pitchFamily="34" charset="-120"/>
              </a:rPr>
              <a:t>разбиение по кадрам, оставленные испорченные кадры, нормализация по всем данным, отражение в итоговой модели, выбор по тесту, вывод из разницы меньше шума.</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ПРОМЕЖУТОЧНЫЙ КОНТРОЛЬ</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Защита работы</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097280"/>
            <a:ext cx="2651760" cy="1737360"/>
          </a:xfrm>
          <a:prstGeom prst="rect">
            <a:avLst/>
          </a:prstGeom>
          <a:solidFill>
            <a:srgbClr val="0F1B2D"/>
          </a:solidFill>
          <a:ln w="9525">
            <a:solidFill>
              <a:srgbClr val="0F1B2D"/>
            </a:solidFill>
            <a:prstDash val="solid"/>
          </a:ln>
        </p:spPr>
      </p:sp>
      <p:sp>
        <p:nvSpPr>
          <p:cNvPr id="7" name="Shape 5"/>
          <p:cNvSpPr/>
          <p:nvPr/>
        </p:nvSpPr>
        <p:spPr>
          <a:xfrm>
            <a:off x="640080" y="1261872"/>
            <a:ext cx="502920" cy="438912"/>
          </a:xfrm>
          <a:prstGeom prst="hexagon">
            <a:avLst/>
          </a:prstGeom>
          <a:solidFill>
            <a:srgbClr val="4C9BFF"/>
          </a:solidFill>
          <a:ln w="6350">
            <a:solidFill>
              <a:srgbClr val="4C9BFF"/>
            </a:solidFill>
            <a:prstDash val="solid"/>
          </a:ln>
        </p:spPr>
      </p:sp>
      <p:sp>
        <p:nvSpPr>
          <p:cNvPr id="8" name="Text 6"/>
          <p:cNvSpPr txBox="1"/>
          <p:nvPr/>
        </p:nvSpPr>
        <p:spPr>
          <a:xfrm>
            <a:off x="640080" y="1261872"/>
            <a:ext cx="502920" cy="438912"/>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А</a:t>
            </a:r>
            <a:endParaRPr lang="en-US" sz="900" dirty="0"/>
          </a:p>
        </p:txBody>
      </p:sp>
      <p:sp>
        <p:nvSpPr>
          <p:cNvPr id="9" name="Text 7"/>
          <p:cNvSpPr txBox="1"/>
          <p:nvPr/>
        </p:nvSpPr>
        <p:spPr>
          <a:xfrm>
            <a:off x="1280160" y="1280160"/>
            <a:ext cx="1737360" cy="411480"/>
          </a:xfrm>
          <a:prstGeom prst="rect">
            <a:avLst/>
          </a:prstGeom>
          <a:noFill/>
          <a:ln/>
        </p:spPr>
        <p:txBody>
          <a:bodyPr wrap="square" lIns="0" tIns="0" rIns="0" bIns="0" rtlCol="0" anchor="ctr"/>
          <a:lstStyle/>
          <a:p>
            <a:pPr indent="0" marL="0">
              <a:buNone/>
            </a:pPr>
            <a:r>
              <a:rPr lang="en-US" sz="1400" b="1" dirty="0">
                <a:solidFill>
                  <a:srgbClr val="4C9BFF"/>
                </a:solidFill>
                <a:latin typeface="Cambria" pitchFamily="34" charset="0"/>
                <a:ea typeface="Cambria" pitchFamily="34" charset="-122"/>
                <a:cs typeface="Cambria" pitchFamily="34" charset="-120"/>
              </a:rPr>
              <a:t>По ноутбуку</a:t>
            </a:r>
            <a:endParaRPr lang="en-US" sz="1400" dirty="0"/>
          </a:p>
        </p:txBody>
      </p:sp>
      <p:sp>
        <p:nvSpPr>
          <p:cNvPr id="10" name="Text 8"/>
          <p:cNvSpPr txBox="1"/>
          <p:nvPr/>
        </p:nvSpPr>
        <p:spPr>
          <a:xfrm>
            <a:off x="640080" y="1920240"/>
            <a:ext cx="2331720" cy="777240"/>
          </a:xfrm>
          <a:prstGeom prst="rect">
            <a:avLst/>
          </a:prstGeom>
          <a:noFill/>
          <a:ln/>
        </p:spPr>
        <p:txBody>
          <a:bodyPr wrap="square" lIns="0" tIns="0" rIns="0" bIns="0" rtlCol="0" anchor="t"/>
          <a:lstStyle/>
          <a:p>
            <a:pPr indent="0" marL="0">
              <a:buNone/>
            </a:pPr>
            <a:r>
              <a:rPr lang="en-US" sz="950" dirty="0">
                <a:solidFill>
                  <a:srgbClr val="C9CDD2"/>
                </a:solidFill>
                <a:latin typeface="Calibri" pitchFamily="34" charset="0"/>
                <a:ea typeface="Calibri" pitchFamily="34" charset="-122"/>
                <a:cs typeface="Calibri" pitchFamily="34" charset="-120"/>
              </a:rPr>
              <a:t>почему так сделано и что значат ваши числа</a:t>
            </a:r>
            <a:endParaRPr lang="en-US" sz="950" dirty="0"/>
          </a:p>
        </p:txBody>
      </p:sp>
      <p:sp>
        <p:nvSpPr>
          <p:cNvPr id="11" name="Shape 9"/>
          <p:cNvSpPr/>
          <p:nvPr/>
        </p:nvSpPr>
        <p:spPr>
          <a:xfrm>
            <a:off x="3246120" y="1097280"/>
            <a:ext cx="2651760" cy="1737360"/>
          </a:xfrm>
          <a:prstGeom prst="rect">
            <a:avLst/>
          </a:prstGeom>
          <a:solidFill>
            <a:srgbClr val="FFFFFF"/>
          </a:solidFill>
          <a:ln w="9525">
            <a:solidFill>
              <a:srgbClr val="E1E3E5"/>
            </a:solidFill>
            <a:prstDash val="solid"/>
          </a:ln>
        </p:spPr>
      </p:sp>
      <p:sp>
        <p:nvSpPr>
          <p:cNvPr id="12" name="Shape 10"/>
          <p:cNvSpPr/>
          <p:nvPr/>
        </p:nvSpPr>
        <p:spPr>
          <a:xfrm>
            <a:off x="3429000" y="1261872"/>
            <a:ext cx="502920" cy="438912"/>
          </a:xfrm>
          <a:prstGeom prst="hexagon">
            <a:avLst/>
          </a:prstGeom>
          <a:solidFill>
            <a:srgbClr val="4C9BFF"/>
          </a:solidFill>
          <a:ln w="6350">
            <a:solidFill>
              <a:srgbClr val="4C9BFF"/>
            </a:solidFill>
            <a:prstDash val="solid"/>
          </a:ln>
        </p:spPr>
      </p:sp>
      <p:sp>
        <p:nvSpPr>
          <p:cNvPr id="13" name="Text 11"/>
          <p:cNvSpPr txBox="1"/>
          <p:nvPr/>
        </p:nvSpPr>
        <p:spPr>
          <a:xfrm>
            <a:off x="3429000" y="1261872"/>
            <a:ext cx="502920" cy="438912"/>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Б</a:t>
            </a:r>
            <a:endParaRPr lang="en-US" sz="900" dirty="0"/>
          </a:p>
        </p:txBody>
      </p:sp>
      <p:sp>
        <p:nvSpPr>
          <p:cNvPr id="14" name="Text 12"/>
          <p:cNvSpPr txBox="1"/>
          <p:nvPr/>
        </p:nvSpPr>
        <p:spPr>
          <a:xfrm>
            <a:off x="4069080" y="1280160"/>
            <a:ext cx="1737360" cy="411480"/>
          </a:xfrm>
          <a:prstGeom prst="rect">
            <a:avLst/>
          </a:prstGeom>
          <a:noFill/>
          <a:ln/>
        </p:spPr>
        <p:txBody>
          <a:bodyPr wrap="square" lIns="0" tIns="0" rIns="0" bIns="0" rtlCol="0" anchor="ctr"/>
          <a:lstStyle/>
          <a:p>
            <a:pPr indent="0" marL="0">
              <a:buNone/>
            </a:pPr>
            <a:r>
              <a:rPr lang="en-US" sz="1400" b="1" dirty="0">
                <a:solidFill>
                  <a:srgbClr val="0F1B2D"/>
                </a:solidFill>
                <a:latin typeface="Cambria" pitchFamily="34" charset="0"/>
                <a:ea typeface="Cambria" pitchFamily="34" charset="-122"/>
                <a:cs typeface="Cambria" pitchFamily="34" charset="-120"/>
              </a:rPr>
              <a:t>Блок 1</a:t>
            </a:r>
            <a:endParaRPr lang="en-US" sz="1400" dirty="0"/>
          </a:p>
        </p:txBody>
      </p:sp>
      <p:sp>
        <p:nvSpPr>
          <p:cNvPr id="15" name="Text 13"/>
          <p:cNvSpPr txBox="1"/>
          <p:nvPr/>
        </p:nvSpPr>
        <p:spPr>
          <a:xfrm>
            <a:off x="3429000" y="1920240"/>
            <a:ext cx="2331720" cy="777240"/>
          </a:xfrm>
          <a:prstGeom prst="rect">
            <a:avLst/>
          </a:prstGeom>
          <a:noFill/>
          <a:ln/>
        </p:spPr>
        <p:txBody>
          <a:bodyPr wrap="square" lIns="0" tIns="0" rIns="0" bIns="0" rtlCol="0" anchor="t"/>
          <a:lstStyle/>
          <a:p>
            <a:pPr indent="0" marL="0">
              <a:buNone/>
            </a:pPr>
            <a:r>
              <a:rPr lang="en-US" sz="950" dirty="0">
                <a:solidFill>
                  <a:srgbClr val="686F7B"/>
                </a:solidFill>
                <a:latin typeface="Calibri" pitchFamily="34" charset="0"/>
                <a:ea typeface="Calibri" pitchFamily="34" charset="-122"/>
                <a:cs typeface="Calibri" pitchFamily="34" charset="-120"/>
              </a:rPr>
              <a:t>архитектуры, обратное распространение, свертки, рекуррентные сети</a:t>
            </a:r>
            <a:endParaRPr lang="en-US" sz="950" dirty="0"/>
          </a:p>
        </p:txBody>
      </p:sp>
      <p:sp>
        <p:nvSpPr>
          <p:cNvPr id="16" name="Shape 14"/>
          <p:cNvSpPr/>
          <p:nvPr/>
        </p:nvSpPr>
        <p:spPr>
          <a:xfrm>
            <a:off x="6035040" y="1097280"/>
            <a:ext cx="2651760" cy="1737360"/>
          </a:xfrm>
          <a:prstGeom prst="rect">
            <a:avLst/>
          </a:prstGeom>
          <a:solidFill>
            <a:srgbClr val="FFFFFF"/>
          </a:solidFill>
          <a:ln w="9525">
            <a:solidFill>
              <a:srgbClr val="E1E3E5"/>
            </a:solidFill>
            <a:prstDash val="solid"/>
          </a:ln>
        </p:spPr>
      </p:sp>
      <p:sp>
        <p:nvSpPr>
          <p:cNvPr id="17" name="Shape 15"/>
          <p:cNvSpPr/>
          <p:nvPr/>
        </p:nvSpPr>
        <p:spPr>
          <a:xfrm>
            <a:off x="6217920" y="1261872"/>
            <a:ext cx="502920" cy="438912"/>
          </a:xfrm>
          <a:prstGeom prst="hexagon">
            <a:avLst/>
          </a:prstGeom>
          <a:solidFill>
            <a:srgbClr val="4C9BFF"/>
          </a:solidFill>
          <a:ln w="6350">
            <a:solidFill>
              <a:srgbClr val="4C9BFF"/>
            </a:solidFill>
            <a:prstDash val="solid"/>
          </a:ln>
        </p:spPr>
      </p:sp>
      <p:sp>
        <p:nvSpPr>
          <p:cNvPr id="18" name="Text 16"/>
          <p:cNvSpPr txBox="1"/>
          <p:nvPr/>
        </p:nvSpPr>
        <p:spPr>
          <a:xfrm>
            <a:off x="6217920" y="1261872"/>
            <a:ext cx="502920" cy="438912"/>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В</a:t>
            </a:r>
            <a:endParaRPr lang="en-US" sz="900" dirty="0"/>
          </a:p>
        </p:txBody>
      </p:sp>
      <p:sp>
        <p:nvSpPr>
          <p:cNvPr id="19" name="Text 17"/>
          <p:cNvSpPr txBox="1"/>
          <p:nvPr/>
        </p:nvSpPr>
        <p:spPr>
          <a:xfrm>
            <a:off x="6858000" y="1280160"/>
            <a:ext cx="1737360" cy="411480"/>
          </a:xfrm>
          <a:prstGeom prst="rect">
            <a:avLst/>
          </a:prstGeom>
          <a:noFill/>
          <a:ln/>
        </p:spPr>
        <p:txBody>
          <a:bodyPr wrap="square" lIns="0" tIns="0" rIns="0" bIns="0" rtlCol="0" anchor="ctr"/>
          <a:lstStyle/>
          <a:p>
            <a:pPr indent="0" marL="0">
              <a:buNone/>
            </a:pPr>
            <a:r>
              <a:rPr lang="en-US" sz="1400" b="1" dirty="0">
                <a:solidFill>
                  <a:srgbClr val="0F1B2D"/>
                </a:solidFill>
                <a:latin typeface="Cambria" pitchFamily="34" charset="0"/>
                <a:ea typeface="Cambria" pitchFamily="34" charset="-122"/>
                <a:cs typeface="Cambria" pitchFamily="34" charset="-120"/>
              </a:rPr>
              <a:t>Блок 2</a:t>
            </a:r>
            <a:endParaRPr lang="en-US" sz="1400" dirty="0"/>
          </a:p>
        </p:txBody>
      </p:sp>
      <p:sp>
        <p:nvSpPr>
          <p:cNvPr id="20" name="Text 18"/>
          <p:cNvSpPr txBox="1"/>
          <p:nvPr/>
        </p:nvSpPr>
        <p:spPr>
          <a:xfrm>
            <a:off x="6217920" y="1920240"/>
            <a:ext cx="2331720" cy="777240"/>
          </a:xfrm>
          <a:prstGeom prst="rect">
            <a:avLst/>
          </a:prstGeom>
          <a:noFill/>
          <a:ln/>
        </p:spPr>
        <p:txBody>
          <a:bodyPr wrap="square" lIns="0" tIns="0" rIns="0" bIns="0" rtlCol="0" anchor="t"/>
          <a:lstStyle/>
          <a:p>
            <a:pPr indent="0" marL="0">
              <a:buNone/>
            </a:pPr>
            <a:r>
              <a:rPr lang="en-US" sz="950" dirty="0">
                <a:solidFill>
                  <a:srgbClr val="686F7B"/>
                </a:solidFill>
                <a:latin typeface="Calibri" pitchFamily="34" charset="0"/>
                <a:ea typeface="Calibri" pitchFamily="34" charset="-122"/>
                <a:cs typeface="Calibri" pitchFamily="34" charset="-120"/>
              </a:rPr>
              <a:t>оптимизация, нормализация, регуляризация, аугментация, перенос, методология</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914400"/>
        </p:xfrm>
        <a:graphic>
          <a:graphicData uri="http://schemas.openxmlformats.org/drawingml/2006/table">
            <a:tbl>
              <a:tblPr/>
              <a:tblGrid>
                <a:gridCol w="914400"/>
                <a:gridCol w="73152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Оценка</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Что нужно</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0F1B2D"/>
                    </a:solidFill>
                  </a:tcPr>
                </a:tc>
              </a:tr>
              <a:tr h="274320">
                <a:tc>
                  <a:txBody>
                    <a:bodyPr/>
                    <a:lstStyle/>
                    <a:p>
                      <a:pPr indent="0" marL="0">
                        <a:buNone/>
                      </a:pPr>
                      <a:r>
                        <a:rPr lang="en-US" sz="900" b="1" dirty="0">
                          <a:solidFill>
                            <a:srgbClr val="0F1B2D"/>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900" dirty="0">
                          <a:solidFill>
                            <a:srgbClr val="686F7B"/>
                          </a:solidFill>
                          <a:latin typeface="Calibri" pitchFamily="34" charset="0"/>
                          <a:ea typeface="Calibri" pitchFamily="34" charset="-122"/>
                          <a:cs typeface="Calibri" pitchFamily="34" charset="-120"/>
                        </a:rPr>
                        <a:t>уверенные ответы на все три вопроса, объяснение своих чисел</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0F1B2D"/>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900" dirty="0">
                          <a:solidFill>
                            <a:srgbClr val="686F7B"/>
                          </a:solidFill>
                          <a:latin typeface="Calibri" pitchFamily="34" charset="0"/>
                          <a:ea typeface="Calibri" pitchFamily="34" charset="-122"/>
                          <a:cs typeface="Calibri" pitchFamily="34" charset="-120"/>
                        </a:rPr>
                        <a:t>один ответ неполный или с подсказкой</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r h="274320">
                <a:tc>
                  <a:txBody>
                    <a:bodyPr/>
                    <a:lstStyle/>
                    <a:p>
                      <a:pPr indent="0" marL="0">
                        <a:buNone/>
                      </a:pPr>
                      <a:r>
                        <a:rPr lang="en-US" sz="900" b="1" dirty="0">
                          <a:solidFill>
                            <a:srgbClr val="0F1B2D"/>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c>
                  <a:txBody>
                    <a:bodyPr/>
                    <a:lstStyle/>
                    <a:p>
                      <a:pPr indent="0" marL="0">
                        <a:buNone/>
                      </a:pPr>
                      <a:r>
                        <a:rPr lang="en-US" sz="900" dirty="0">
                          <a:solidFill>
                            <a:srgbClr val="686F7B"/>
                          </a:solidFill>
                          <a:latin typeface="Calibri" pitchFamily="34" charset="0"/>
                          <a:ea typeface="Calibri" pitchFamily="34" charset="-122"/>
                          <a:cs typeface="Calibri" pitchFamily="34" charset="-120"/>
                        </a:rPr>
                        <a:t>два ответа неполные, но свой ноутбук ученик понимает</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0F1B2D"/>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c>
                  <a:txBody>
                    <a:bodyPr/>
                    <a:lstStyle/>
                    <a:p>
                      <a:pPr indent="0" marL="0">
                        <a:buNone/>
                      </a:pPr>
                      <a:r>
                        <a:rPr lang="en-US" sz="900" dirty="0">
                          <a:solidFill>
                            <a:srgbClr val="686F7B"/>
                          </a:solidFill>
                          <a:latin typeface="Calibri" pitchFamily="34" charset="0"/>
                          <a:ea typeface="Calibri" pitchFamily="34" charset="-122"/>
                          <a:cs typeface="Calibri" pitchFamily="34" charset="-120"/>
                        </a:rPr>
                        <a:t>не может объяснить собственный код и числа</a:t>
                      </a:r>
                      <a:endParaRPr lang="en-US" sz="900" dirty="0">
                        <a:latin typeface="Calibri" charset="0"/>
                        <a:ea typeface="Calibri" charset="0"/>
                        <a:cs typeface="Calibri" charset="0"/>
                      </a:endParaRPr>
                    </a:p>
                  </a:txBody>
                  <a:tcPr marL="63500" marR="63500" marT="38100" marB="38100" anchor="ctr">
                    <a:lnL w="6350" cap="flat" cmpd="sng" algn="ctr">
                      <a:solidFill>
                        <a:srgbClr val="E1E3E5"/>
                      </a:solidFill>
                      <a:prstDash val="solid"/>
                      <a:round/>
                      <a:headEnd type="none" w="med" len="med"/>
                      <a:tailEnd type="none" w="med" len="med"/>
                    </a:lnL>
                    <a:lnR w="6350" cap="flat" cmpd="sng" algn="ctr">
                      <a:solidFill>
                        <a:srgbClr val="E1E3E5"/>
                      </a:solidFill>
                      <a:prstDash val="solid"/>
                      <a:round/>
                      <a:headEnd type="none" w="med" len="med"/>
                      <a:tailEnd type="none" w="med" len="med"/>
                    </a:lnR>
                    <a:lnT w="6350" cap="flat" cmpd="sng" algn="ctr">
                      <a:solidFill>
                        <a:srgbClr val="E1E3E5"/>
                      </a:solidFill>
                      <a:prstDash val="solid"/>
                      <a:round/>
                      <a:headEnd type="none" w="med" len="med"/>
                      <a:tailEnd type="none" w="med" len="med"/>
                    </a:lnT>
                    <a:lnB w="6350" cap="flat" cmpd="sng" algn="ctr">
                      <a:solidFill>
                        <a:srgbClr val="E1E3E5"/>
                      </a:solidFill>
                      <a:prstDash val="solid"/>
                      <a:round/>
                      <a:headEnd type="none" w="med" len="med"/>
                      <a:tailEnd type="none" w="med" len="med"/>
                    </a:lnB>
                    <a:solidFill>
                      <a:srgbClr val="F6F8FA"/>
                    </a:solidFill>
                  </a:tcPr>
                </a:tc>
              </a:tr>
            </a:tbl>
          </a:graphicData>
        </a:graphic>
      </p:graphicFrame>
      <p:sp>
        <p:nvSpPr>
          <p:cNvPr id="22" name="Text 19"/>
          <p:cNvSpPr txBox="1"/>
          <p:nvPr/>
        </p:nvSpPr>
        <p:spPr>
          <a:xfrm>
            <a:off x="457200" y="4480560"/>
            <a:ext cx="8229600" cy="201168"/>
          </a:xfrm>
          <a:prstGeom prst="rect">
            <a:avLst/>
          </a:prstGeom>
          <a:noFill/>
          <a:ln/>
        </p:spPr>
        <p:txBody>
          <a:bodyPr wrap="square" lIns="0" tIns="0" rIns="0" bIns="0" rtlCol="0" anchor="t"/>
          <a:lstStyle/>
          <a:p>
            <a:pPr indent="0" marL="0">
              <a:buNone/>
            </a:pPr>
            <a:r>
              <a:rPr lang="en-US" sz="850" dirty="0">
                <a:solidFill>
                  <a:srgbClr val="686F7B"/>
                </a:solidFill>
                <a:latin typeface="Calibri" pitchFamily="34" charset="0"/>
                <a:ea typeface="Calibri" pitchFamily="34" charset="-122"/>
                <a:cs typeface="Calibri" pitchFamily="34" charset="-120"/>
              </a:rPr>
              <a:t>5–7 минут на ученика; ноутбук открыт</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182880"/>
          </a:xfrm>
          <a:prstGeom prst="rect">
            <a:avLst/>
          </a:prstGeom>
          <a:noFill/>
          <a:ln/>
        </p:spPr>
        <p:txBody>
          <a:bodyPr wrap="square" lIns="0" tIns="0" rIns="0" bIns="0" rtlCol="0" anchor="t"/>
          <a:lstStyle/>
          <a:p>
            <a:pPr indent="0" marL="0">
              <a:buNone/>
            </a:pPr>
            <a:r>
              <a:rPr lang="en-US" sz="800" b="1" spc="300" kern="0" dirty="0">
                <a:solidFill>
                  <a:srgbClr val="1F63C9"/>
                </a:solidFill>
                <a:latin typeface="Calibri" pitchFamily="34" charset="0"/>
                <a:ea typeface="Calibri" pitchFamily="34" charset="-122"/>
                <a:cs typeface="Calibri" pitchFamily="34" charset="-120"/>
              </a:rPr>
              <a:t>ИТОГ ЗАНЯТИЯ</a:t>
            </a:r>
            <a:endParaRPr lang="en-US" sz="80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Чек-лист на каждый проект</a:t>
            </a:r>
            <a:endParaRPr lang="en-US" sz="2400" dirty="0"/>
          </a:p>
        </p:txBody>
      </p:sp>
      <p:sp>
        <p:nvSpPr>
          <p:cNvPr id="4" name="Text 2"/>
          <p:cNvSpPr txBox="1"/>
          <p:nvPr/>
        </p:nvSpPr>
        <p:spPr>
          <a:xfrm>
            <a:off x="457200" y="4800600"/>
            <a:ext cx="5029200" cy="182880"/>
          </a:xfrm>
          <a:prstGeom prst="rect">
            <a:avLst/>
          </a:prstGeom>
          <a:noFill/>
          <a:ln/>
        </p:spPr>
        <p:txBody>
          <a:bodyPr wrap="square" lIns="0" tIns="0" rIns="0" bIns="0" rtlCol="0" anchor="t"/>
          <a:lstStyle/>
          <a:p>
            <a:pPr indent="0" marL="0">
              <a:buNone/>
            </a:pPr>
            <a:r>
              <a:rPr lang="en-US" sz="700" dirty="0">
                <a:solidFill>
                  <a:srgbClr val="686F7B"/>
                </a:solidFill>
                <a:latin typeface="Calibri" pitchFamily="34" charset="0"/>
                <a:ea typeface="Calibri" pitchFamily="34" charset="-122"/>
                <a:cs typeface="Calibri" pitchFamily="34" charset="-120"/>
              </a:rPr>
              <a:t>10 класс · Тема 1 · Блок 2 · Практическая методология</a:t>
            </a:r>
            <a:endParaRPr lang="en-US" sz="700" dirty="0"/>
          </a:p>
        </p:txBody>
      </p:sp>
      <p:sp>
        <p:nvSpPr>
          <p:cNvPr id="5" name="Text 3"/>
          <p:cNvSpPr txBox="1"/>
          <p:nvPr/>
        </p:nvSpPr>
        <p:spPr>
          <a:xfrm>
            <a:off x="8229600" y="4773168"/>
            <a:ext cx="457200" cy="228600"/>
          </a:xfrm>
          <a:prstGeom prst="rect">
            <a:avLst/>
          </a:prstGeom>
          <a:noFill/>
          <a:ln/>
        </p:spPr>
        <p:txBody>
          <a:bodyPr wrap="square" lIns="0" tIns="0" rIns="0" bIns="0" rtlCol="0" anchor="t"/>
          <a:lstStyle/>
          <a:p>
            <a:pPr algn="r" indent="0" marL="0">
              <a:buNone/>
            </a:pPr>
            <a:r>
              <a:rPr lang="en-US" sz="900" b="1" dirty="0">
                <a:solidFill>
                  <a:srgbClr val="1F63C9"/>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457200" y="10972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01</a:t>
            </a:r>
            <a:endParaRPr lang="en-US" sz="1600" dirty="0"/>
          </a:p>
        </p:txBody>
      </p:sp>
      <p:sp>
        <p:nvSpPr>
          <p:cNvPr id="7" name="Text 5"/>
          <p:cNvSpPr txBox="1"/>
          <p:nvPr/>
        </p:nvSpPr>
        <p:spPr>
          <a:xfrm>
            <a:off x="960120" y="111556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Метрика и цель</a:t>
            </a:r>
            <a:endParaRPr lang="en-US" sz="1100" dirty="0"/>
          </a:p>
        </p:txBody>
      </p:sp>
      <p:sp>
        <p:nvSpPr>
          <p:cNvPr id="8" name="Text 6"/>
          <p:cNvSpPr txBox="1"/>
          <p:nvPr/>
        </p:nvSpPr>
        <p:spPr>
          <a:xfrm>
            <a:off x="960120" y="142646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до первой строки кода</a:t>
            </a:r>
            <a:endParaRPr lang="en-US" sz="900" dirty="0"/>
          </a:p>
        </p:txBody>
      </p:sp>
      <p:sp>
        <p:nvSpPr>
          <p:cNvPr id="9" name="Text 7"/>
          <p:cNvSpPr txBox="1"/>
          <p:nvPr/>
        </p:nvSpPr>
        <p:spPr>
          <a:xfrm>
            <a:off x="3063240" y="109728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3566160" y="111556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Проверка конвейера</a:t>
            </a:r>
            <a:endParaRPr lang="en-US" sz="1100" dirty="0"/>
          </a:p>
        </p:txBody>
      </p:sp>
      <p:sp>
        <p:nvSpPr>
          <p:cNvPr id="11" name="Text 9"/>
          <p:cNvSpPr txBox="1"/>
          <p:nvPr/>
        </p:nvSpPr>
        <p:spPr>
          <a:xfrm>
            <a:off x="3566160" y="142646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ориентир, ln K, крошечный набор</a:t>
            </a:r>
            <a:endParaRPr lang="en-US" sz="900" dirty="0"/>
          </a:p>
        </p:txBody>
      </p:sp>
      <p:sp>
        <p:nvSpPr>
          <p:cNvPr id="12" name="Text 10"/>
          <p:cNvSpPr txBox="1"/>
          <p:nvPr/>
        </p:nvSpPr>
        <p:spPr>
          <a:xfrm>
            <a:off x="457200" y="196596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03</a:t>
            </a:r>
            <a:endParaRPr lang="en-US" sz="1600" dirty="0"/>
          </a:p>
        </p:txBody>
      </p:sp>
      <p:sp>
        <p:nvSpPr>
          <p:cNvPr id="13" name="Text 11"/>
          <p:cNvSpPr txBox="1"/>
          <p:nvPr/>
        </p:nvSpPr>
        <p:spPr>
          <a:xfrm>
            <a:off x="960120" y="198424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Разбиение</a:t>
            </a:r>
            <a:endParaRPr lang="en-US" sz="1100" dirty="0"/>
          </a:p>
        </p:txBody>
      </p:sp>
      <p:sp>
        <p:nvSpPr>
          <p:cNvPr id="14" name="Text 12"/>
          <p:cNvSpPr txBox="1"/>
          <p:nvPr/>
        </p:nvSpPr>
        <p:spPr>
          <a:xfrm>
            <a:off x="960120" y="229514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как в будущей работе, по группам</a:t>
            </a:r>
            <a:endParaRPr lang="en-US" sz="900" dirty="0"/>
          </a:p>
        </p:txBody>
      </p:sp>
      <p:sp>
        <p:nvSpPr>
          <p:cNvPr id="15" name="Text 13"/>
          <p:cNvSpPr txBox="1"/>
          <p:nvPr/>
        </p:nvSpPr>
        <p:spPr>
          <a:xfrm>
            <a:off x="3063240" y="196596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04</a:t>
            </a:r>
            <a:endParaRPr lang="en-US" sz="1600" dirty="0"/>
          </a:p>
        </p:txBody>
      </p:sp>
      <p:sp>
        <p:nvSpPr>
          <p:cNvPr id="16" name="Text 14"/>
          <p:cNvSpPr txBox="1"/>
          <p:nvPr/>
        </p:nvSpPr>
        <p:spPr>
          <a:xfrm>
            <a:off x="3566160" y="198424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Диагноз</a:t>
            </a:r>
            <a:endParaRPr lang="en-US" sz="1100" dirty="0"/>
          </a:p>
        </p:txBody>
      </p:sp>
      <p:sp>
        <p:nvSpPr>
          <p:cNvPr id="17" name="Text 15"/>
          <p:cNvSpPr txBox="1"/>
          <p:nvPr/>
        </p:nvSpPr>
        <p:spPr>
          <a:xfrm>
            <a:off x="3566160" y="229514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 двум ошибкам</a:t>
            </a:r>
            <a:endParaRPr lang="en-US" sz="900" dirty="0"/>
          </a:p>
        </p:txBody>
      </p:sp>
      <p:sp>
        <p:nvSpPr>
          <p:cNvPr id="18" name="Text 16"/>
          <p:cNvSpPr txBox="1"/>
          <p:nvPr/>
        </p:nvSpPr>
        <p:spPr>
          <a:xfrm>
            <a:off x="457200" y="283464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05</a:t>
            </a:r>
            <a:endParaRPr lang="en-US" sz="1600" dirty="0"/>
          </a:p>
        </p:txBody>
      </p:sp>
      <p:sp>
        <p:nvSpPr>
          <p:cNvPr id="19" name="Text 17"/>
          <p:cNvSpPr txBox="1"/>
          <p:nvPr/>
        </p:nvSpPr>
        <p:spPr>
          <a:xfrm>
            <a:off x="960120" y="285292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По одному</a:t>
            </a:r>
            <a:endParaRPr lang="en-US" sz="1100" dirty="0"/>
          </a:p>
        </p:txBody>
      </p:sp>
      <p:sp>
        <p:nvSpPr>
          <p:cNvPr id="20" name="Text 18"/>
          <p:cNvSpPr txBox="1"/>
          <p:nvPr/>
        </p:nvSpPr>
        <p:spPr>
          <a:xfrm>
            <a:off x="960120" y="316382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и каждое изменение в журнал</a:t>
            </a:r>
            <a:endParaRPr lang="en-US" sz="900" dirty="0"/>
          </a:p>
        </p:txBody>
      </p:sp>
      <p:sp>
        <p:nvSpPr>
          <p:cNvPr id="21" name="Text 19"/>
          <p:cNvSpPr txBox="1"/>
          <p:nvPr/>
        </p:nvSpPr>
        <p:spPr>
          <a:xfrm>
            <a:off x="3063240" y="2834640"/>
            <a:ext cx="457200" cy="320040"/>
          </a:xfrm>
          <a:prstGeom prst="rect">
            <a:avLst/>
          </a:prstGeom>
          <a:noFill/>
          <a:ln/>
        </p:spPr>
        <p:txBody>
          <a:bodyPr wrap="square" lIns="0" tIns="0" rIns="0" bIns="0" rtlCol="0" anchor="t"/>
          <a:lstStyle/>
          <a:p>
            <a:pPr indent="0" marL="0">
              <a:buNone/>
            </a:pPr>
            <a:r>
              <a:rPr lang="en-US" sz="1600" b="1" dirty="0">
                <a:solidFill>
                  <a:srgbClr val="4C9BFF"/>
                </a:solidFill>
                <a:latin typeface="Cambria" pitchFamily="34" charset="0"/>
                <a:ea typeface="Cambria" pitchFamily="34" charset="-122"/>
                <a:cs typeface="Cambria" pitchFamily="34" charset="-120"/>
              </a:rPr>
              <a:t>06</a:t>
            </a:r>
            <a:endParaRPr lang="en-US" sz="1600" dirty="0"/>
          </a:p>
        </p:txBody>
      </p:sp>
      <p:sp>
        <p:nvSpPr>
          <p:cNvPr id="22" name="Text 20"/>
          <p:cNvSpPr txBox="1"/>
          <p:nvPr/>
        </p:nvSpPr>
        <p:spPr>
          <a:xfrm>
            <a:off x="3566160" y="2852928"/>
            <a:ext cx="2011680" cy="274320"/>
          </a:xfrm>
          <a:prstGeom prst="rect">
            <a:avLst/>
          </a:prstGeom>
          <a:noFill/>
          <a:ln/>
        </p:spPr>
        <p:txBody>
          <a:bodyPr wrap="square" lIns="0" tIns="0" rIns="0" bIns="0" rtlCol="0" anchor="t"/>
          <a:lstStyle/>
          <a:p>
            <a:pPr indent="0" marL="0">
              <a:buNone/>
            </a:pPr>
            <a:r>
              <a:rPr lang="en-US" sz="1100" b="1" dirty="0">
                <a:solidFill>
                  <a:srgbClr val="0F1B2D"/>
                </a:solidFill>
                <a:latin typeface="Cambria" pitchFamily="34" charset="0"/>
                <a:ea typeface="Cambria" pitchFamily="34" charset="-122"/>
                <a:cs typeface="Cambria" pitchFamily="34" charset="-120"/>
              </a:rPr>
              <a:t>Сравнение с шумом</a:t>
            </a:r>
            <a:endParaRPr lang="en-US" sz="1100" dirty="0"/>
          </a:p>
        </p:txBody>
      </p:sp>
      <p:sp>
        <p:nvSpPr>
          <p:cNvPr id="23" name="Text 21"/>
          <p:cNvSpPr txBox="1"/>
          <p:nvPr/>
        </p:nvSpPr>
        <p:spPr>
          <a:xfrm>
            <a:off x="3566160" y="3163824"/>
            <a:ext cx="2103120" cy="411480"/>
          </a:xfrm>
          <a:prstGeom prst="rect">
            <a:avLst/>
          </a:prstGeom>
          <a:noFill/>
          <a:ln/>
        </p:spPr>
        <p:txBody>
          <a:bodyPr wrap="square" lIns="0" tIns="0" rIns="0" bIns="0" rtlCol="0" anchor="t"/>
          <a:lstStyle/>
          <a:p>
            <a:pPr indent="0" marL="0">
              <a:buNone/>
            </a:pPr>
            <a:r>
              <a:rPr lang="en-US" sz="900" dirty="0">
                <a:solidFill>
                  <a:srgbClr val="686F7B"/>
                </a:solidFill>
                <a:latin typeface="Calibri" pitchFamily="34" charset="0"/>
                <a:ea typeface="Calibri" pitchFamily="34" charset="-122"/>
                <a:cs typeface="Calibri" pitchFamily="34" charset="-120"/>
              </a:rPr>
              <a:t>повтор на другом зерне</a:t>
            </a:r>
            <a:endParaRPr lang="en-US" sz="900" dirty="0"/>
          </a:p>
        </p:txBody>
      </p:sp>
      <p:sp>
        <p:nvSpPr>
          <p:cNvPr id="24" name="Shape 22"/>
          <p:cNvSpPr/>
          <p:nvPr/>
        </p:nvSpPr>
        <p:spPr>
          <a:xfrm>
            <a:off x="457200" y="3749040"/>
            <a:ext cx="8229600" cy="548640"/>
          </a:xfrm>
          <a:prstGeom prst="rect">
            <a:avLst/>
          </a:prstGeom>
          <a:solidFill>
            <a:srgbClr val="0F1B2D"/>
          </a:solidFill>
          <a:ln w="9525">
            <a:solidFill>
              <a:srgbClr val="0F1B2D"/>
            </a:solidFill>
            <a:prstDash val="solid"/>
          </a:ln>
        </p:spPr>
      </p:sp>
      <p:sp>
        <p:nvSpPr>
          <p:cNvPr id="25" name="Shape 23"/>
          <p:cNvSpPr/>
          <p:nvPr/>
        </p:nvSpPr>
        <p:spPr>
          <a:xfrm>
            <a:off x="658368" y="3822192"/>
            <a:ext cx="457200" cy="402336"/>
          </a:xfrm>
          <a:prstGeom prst="hexagon">
            <a:avLst/>
          </a:prstGeom>
          <a:solidFill>
            <a:srgbClr val="4C9BFF"/>
          </a:solidFill>
          <a:ln w="6350">
            <a:solidFill>
              <a:srgbClr val="4C9BFF"/>
            </a:solidFill>
            <a:prstDash val="solid"/>
          </a:ln>
        </p:spPr>
      </p:sp>
      <p:sp>
        <p:nvSpPr>
          <p:cNvPr id="26" name="Text 24"/>
          <p:cNvSpPr txBox="1"/>
          <p:nvPr/>
        </p:nvSpPr>
        <p:spPr>
          <a:xfrm>
            <a:off x="658368" y="3822192"/>
            <a:ext cx="457200" cy="402336"/>
          </a:xfrm>
          <a:prstGeom prst="rect">
            <a:avLst/>
          </a:prstGeom>
          <a:noFill/>
          <a:ln/>
        </p:spPr>
        <p:txBody>
          <a:bodyPr wrap="square" lIns="0" tIns="0" rIns="0" bIns="0" rtlCol="0" anchor="ctr"/>
          <a:lstStyle/>
          <a:p>
            <a:pPr algn="ctr" indent="0" marL="0">
              <a:buNone/>
            </a:pPr>
            <a:r>
              <a:rPr lang="en-US" sz="900" b="1" dirty="0">
                <a:solidFill>
                  <a:srgbClr val="0F1B2D"/>
                </a:solidFill>
                <a:latin typeface="Calibri" pitchFamily="34" charset="0"/>
                <a:ea typeface="Calibri" pitchFamily="34" charset="-122"/>
                <a:cs typeface="Calibri" pitchFamily="34" charset="-120"/>
              </a:rPr>
              <a:t>7</a:t>
            </a:r>
            <a:endParaRPr lang="en-US" sz="900" dirty="0"/>
          </a:p>
        </p:txBody>
      </p:sp>
      <p:sp>
        <p:nvSpPr>
          <p:cNvPr id="27" name="Text 25"/>
          <p:cNvSpPr txBox="1"/>
          <p:nvPr/>
        </p:nvSpPr>
        <p:spPr>
          <a:xfrm>
            <a:off x="1280160" y="3749040"/>
            <a:ext cx="722376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07 · Тест – один раз, </a:t>
            </a:r>
            <a:pPr indent="0" marL="0">
              <a:buNone/>
            </a:pPr>
            <a:r>
              <a:rPr lang="en-US" sz="1050" dirty="0">
                <a:solidFill>
                  <a:srgbClr val="C9CDD2"/>
                </a:solidFill>
                <a:latin typeface="Calibri" pitchFamily="34" charset="0"/>
                <a:ea typeface="Calibri" pitchFamily="34" charset="-122"/>
                <a:cs typeface="Calibri" pitchFamily="34" charset="-120"/>
              </a:rPr>
              <a:t>в самом конце, для уже выбранной модели.</a:t>
            </a:r>
            <a:endParaRPr lang="en-US" sz="1050" dirty="0"/>
          </a:p>
        </p:txBody>
      </p:sp>
      <p:pic>
        <p:nvPicPr>
          <p:cNvPr id="28" name="Image 0" descr="/home/claude/work/b26/img/final.png">    </p:cNvPr>
          <p:cNvPicPr>
            <a:picLocks noChangeAspect="1"/>
          </p:cNvPicPr>
          <p:nvPr/>
        </p:nvPicPr>
        <p:blipFill>
          <a:blip r:embed="rId1"/>
          <a:stretch>
            <a:fillRect/>
          </a:stretch>
        </p:blipFill>
        <p:spPr>
          <a:xfrm>
            <a:off x="6035040" y="868680"/>
            <a:ext cx="2468880" cy="2728762"/>
          </a:xfrm>
          <a:prstGeom prst="rect">
            <a:avLst/>
          </a:prstGeom>
        </p:spPr>
      </p:pic>
      <p:sp>
        <p:nvSpPr>
          <p:cNvPr id="29" name="Text 26"/>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000" dirty="0">
                <a:solidFill>
                  <a:srgbClr val="1F63C9"/>
                </a:solidFill>
                <a:latin typeface="Calibri" pitchFamily="34" charset="0"/>
                <a:ea typeface="Calibri" pitchFamily="34" charset="-122"/>
                <a:cs typeface="Calibri" pitchFamily="34" charset="-120"/>
              </a:rPr>
              <a:t>Дальше – Тема 2: последовательности, внимание и трансформеры. Порядок работы тот же.</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Практическая методология и итоговая работа</dc:title>
  <dc:subject>PptxGenJS Presentation</dc:subject>
  <dc:creator>Инженерная школа «УникУм», КузГТУ</dc:creator>
  <cp:lastModifiedBy>Инженерная школа «УникУм», КузГТУ</cp:lastModifiedBy>
  <cp:revision>1</cp:revision>
  <dcterms:created xsi:type="dcterms:W3CDTF">2026-10-08T17:50:36Z</dcterms:created>
  <dcterms:modified xsi:type="dcterms:W3CDTF">2026-10-08T17:50:36Z</dcterms:modified>
</cp:coreProperties>
</file>